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5" r:id="rId4"/>
    <p:sldId id="264" r:id="rId5"/>
    <p:sldId id="261" r:id="rId6"/>
    <p:sldId id="277" r:id="rId7"/>
    <p:sldId id="262" r:id="rId8"/>
    <p:sldId id="263" r:id="rId9"/>
    <p:sldId id="278" r:id="rId10"/>
    <p:sldId id="267" r:id="rId11"/>
    <p:sldId id="257" r:id="rId12"/>
    <p:sldId id="259" r:id="rId13"/>
    <p:sldId id="258" r:id="rId14"/>
    <p:sldId id="268" r:id="rId15"/>
    <p:sldId id="272" r:id="rId16"/>
    <p:sldId id="270" r:id="rId17"/>
    <p:sldId id="269" r:id="rId18"/>
    <p:sldId id="273" r:id="rId19"/>
    <p:sldId id="274" r:id="rId20"/>
    <p:sldId id="275" r:id="rId21"/>
    <p:sldId id="276" r:id="rId22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hilip\Dropbox\Courses\Teaching\FIN%20203\FIN%20203%20Fall%202017\6%20Simulation%20Analysis\Presentation\Payoff%20Diagram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hilip\Dropbox\Courses\Teaching\FIN%20203\FIN%20203%20Fall%202017\S2%20Supporting%20Materials\Random%20Advice\Timelin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Payoff</c:v>
                </c:pt>
              </c:strCache>
            </c:strRef>
          </c:tx>
          <c:spPr>
            <a:ln w="381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"$"#,##0.00</c:formatCode>
                <c:ptCount val="51"/>
                <c:pt idx="0">
                  <c:v>150</c:v>
                </c:pt>
                <c:pt idx="1">
                  <c:v>151</c:v>
                </c:pt>
                <c:pt idx="2">
                  <c:v>152</c:v>
                </c:pt>
                <c:pt idx="3">
                  <c:v>153</c:v>
                </c:pt>
                <c:pt idx="4">
                  <c:v>154</c:v>
                </c:pt>
                <c:pt idx="5">
                  <c:v>155</c:v>
                </c:pt>
                <c:pt idx="6">
                  <c:v>156</c:v>
                </c:pt>
                <c:pt idx="7">
                  <c:v>157</c:v>
                </c:pt>
                <c:pt idx="8">
                  <c:v>158</c:v>
                </c:pt>
                <c:pt idx="9">
                  <c:v>159</c:v>
                </c:pt>
                <c:pt idx="10">
                  <c:v>160</c:v>
                </c:pt>
                <c:pt idx="11">
                  <c:v>161</c:v>
                </c:pt>
                <c:pt idx="12">
                  <c:v>162</c:v>
                </c:pt>
                <c:pt idx="13">
                  <c:v>163</c:v>
                </c:pt>
                <c:pt idx="14">
                  <c:v>164</c:v>
                </c:pt>
                <c:pt idx="15">
                  <c:v>165</c:v>
                </c:pt>
                <c:pt idx="16">
                  <c:v>166</c:v>
                </c:pt>
                <c:pt idx="17">
                  <c:v>167</c:v>
                </c:pt>
                <c:pt idx="18">
                  <c:v>168</c:v>
                </c:pt>
                <c:pt idx="19">
                  <c:v>169</c:v>
                </c:pt>
                <c:pt idx="20">
                  <c:v>170</c:v>
                </c:pt>
                <c:pt idx="21">
                  <c:v>171</c:v>
                </c:pt>
                <c:pt idx="22">
                  <c:v>172.5</c:v>
                </c:pt>
                <c:pt idx="23">
                  <c:v>173</c:v>
                </c:pt>
                <c:pt idx="24">
                  <c:v>174</c:v>
                </c:pt>
                <c:pt idx="25">
                  <c:v>175</c:v>
                </c:pt>
                <c:pt idx="26">
                  <c:v>176</c:v>
                </c:pt>
                <c:pt idx="27">
                  <c:v>177</c:v>
                </c:pt>
                <c:pt idx="28">
                  <c:v>178</c:v>
                </c:pt>
                <c:pt idx="29">
                  <c:v>179</c:v>
                </c:pt>
                <c:pt idx="30">
                  <c:v>180</c:v>
                </c:pt>
                <c:pt idx="31">
                  <c:v>181</c:v>
                </c:pt>
                <c:pt idx="32">
                  <c:v>182</c:v>
                </c:pt>
                <c:pt idx="33">
                  <c:v>183</c:v>
                </c:pt>
                <c:pt idx="34">
                  <c:v>184</c:v>
                </c:pt>
                <c:pt idx="35">
                  <c:v>185</c:v>
                </c:pt>
                <c:pt idx="36">
                  <c:v>186</c:v>
                </c:pt>
                <c:pt idx="37">
                  <c:v>187</c:v>
                </c:pt>
                <c:pt idx="38">
                  <c:v>188</c:v>
                </c:pt>
                <c:pt idx="39">
                  <c:v>189</c:v>
                </c:pt>
                <c:pt idx="40">
                  <c:v>190</c:v>
                </c:pt>
                <c:pt idx="41">
                  <c:v>191</c:v>
                </c:pt>
                <c:pt idx="42">
                  <c:v>192</c:v>
                </c:pt>
                <c:pt idx="43">
                  <c:v>193</c:v>
                </c:pt>
                <c:pt idx="44">
                  <c:v>194</c:v>
                </c:pt>
                <c:pt idx="45">
                  <c:v>195</c:v>
                </c:pt>
                <c:pt idx="46">
                  <c:v>196</c:v>
                </c:pt>
                <c:pt idx="47">
                  <c:v>197</c:v>
                </c:pt>
                <c:pt idx="48">
                  <c:v>198</c:v>
                </c:pt>
                <c:pt idx="49">
                  <c:v>199</c:v>
                </c:pt>
                <c:pt idx="50">
                  <c:v>200</c:v>
                </c:pt>
              </c:numCache>
            </c:numRef>
          </c:xVal>
          <c:yVal>
            <c:numRef>
              <c:f>Sheet1!$B$2:$B$52</c:f>
              <c:numCache>
                <c:formatCode>"$"#,##0.00</c:formatCode>
                <c:ptCount val="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0.5</c:v>
                </c:pt>
                <c:pt idx="24">
                  <c:v>1.5</c:v>
                </c:pt>
                <c:pt idx="25">
                  <c:v>2.5</c:v>
                </c:pt>
                <c:pt idx="26">
                  <c:v>3.5</c:v>
                </c:pt>
                <c:pt idx="27">
                  <c:v>4.5</c:v>
                </c:pt>
                <c:pt idx="28">
                  <c:v>5.5</c:v>
                </c:pt>
                <c:pt idx="29">
                  <c:v>6.5</c:v>
                </c:pt>
                <c:pt idx="30">
                  <c:v>7.5</c:v>
                </c:pt>
                <c:pt idx="31">
                  <c:v>8.5</c:v>
                </c:pt>
                <c:pt idx="32">
                  <c:v>9.5</c:v>
                </c:pt>
                <c:pt idx="33">
                  <c:v>10.5</c:v>
                </c:pt>
                <c:pt idx="34">
                  <c:v>11.5</c:v>
                </c:pt>
                <c:pt idx="35">
                  <c:v>12.5</c:v>
                </c:pt>
                <c:pt idx="36">
                  <c:v>13.5</c:v>
                </c:pt>
                <c:pt idx="37">
                  <c:v>14.5</c:v>
                </c:pt>
                <c:pt idx="38">
                  <c:v>15.5</c:v>
                </c:pt>
                <c:pt idx="39">
                  <c:v>16.5</c:v>
                </c:pt>
                <c:pt idx="40">
                  <c:v>17.5</c:v>
                </c:pt>
                <c:pt idx="41">
                  <c:v>18.5</c:v>
                </c:pt>
                <c:pt idx="42">
                  <c:v>19.5</c:v>
                </c:pt>
                <c:pt idx="43">
                  <c:v>20.5</c:v>
                </c:pt>
                <c:pt idx="44">
                  <c:v>21.5</c:v>
                </c:pt>
                <c:pt idx="45">
                  <c:v>22.5</c:v>
                </c:pt>
                <c:pt idx="46">
                  <c:v>23.5</c:v>
                </c:pt>
                <c:pt idx="47">
                  <c:v>24.5</c:v>
                </c:pt>
                <c:pt idx="48">
                  <c:v>25.5</c:v>
                </c:pt>
                <c:pt idx="49">
                  <c:v>26.5</c:v>
                </c:pt>
                <c:pt idx="50">
                  <c:v>27.5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CFB-43B2-A739-6B30C27A6A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Strike</c:v>
                </c:pt>
              </c:strCache>
            </c:strRef>
          </c:tx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Sheet1!$C$2:$C$52</c:f>
              <c:numCache>
                <c:formatCode>"$"#,##0.00</c:formatCode>
                <c:ptCount val="51"/>
                <c:pt idx="0">
                  <c:v>172.5</c:v>
                </c:pt>
                <c:pt idx="1">
                  <c:v>172.5</c:v>
                </c:pt>
                <c:pt idx="2">
                  <c:v>172.5</c:v>
                </c:pt>
                <c:pt idx="3">
                  <c:v>172.5</c:v>
                </c:pt>
                <c:pt idx="4">
                  <c:v>172.5</c:v>
                </c:pt>
                <c:pt idx="5">
                  <c:v>172.5</c:v>
                </c:pt>
                <c:pt idx="6">
                  <c:v>172.5</c:v>
                </c:pt>
                <c:pt idx="7">
                  <c:v>172.5</c:v>
                </c:pt>
                <c:pt idx="8">
                  <c:v>172.5</c:v>
                </c:pt>
                <c:pt idx="9">
                  <c:v>172.5</c:v>
                </c:pt>
                <c:pt idx="10">
                  <c:v>172.5</c:v>
                </c:pt>
                <c:pt idx="11">
                  <c:v>172.5</c:v>
                </c:pt>
                <c:pt idx="12">
                  <c:v>172.5</c:v>
                </c:pt>
                <c:pt idx="13">
                  <c:v>172.5</c:v>
                </c:pt>
                <c:pt idx="14">
                  <c:v>172.5</c:v>
                </c:pt>
                <c:pt idx="15">
                  <c:v>172.5</c:v>
                </c:pt>
                <c:pt idx="16">
                  <c:v>172.5</c:v>
                </c:pt>
                <c:pt idx="17">
                  <c:v>172.5</c:v>
                </c:pt>
                <c:pt idx="18">
                  <c:v>172.5</c:v>
                </c:pt>
                <c:pt idx="19">
                  <c:v>172.5</c:v>
                </c:pt>
                <c:pt idx="20">
                  <c:v>172.5</c:v>
                </c:pt>
                <c:pt idx="21">
                  <c:v>172.5</c:v>
                </c:pt>
                <c:pt idx="22">
                  <c:v>172.5</c:v>
                </c:pt>
                <c:pt idx="23">
                  <c:v>172.5</c:v>
                </c:pt>
                <c:pt idx="24">
                  <c:v>172.5</c:v>
                </c:pt>
                <c:pt idx="25">
                  <c:v>172.5</c:v>
                </c:pt>
                <c:pt idx="26">
                  <c:v>172.5</c:v>
                </c:pt>
                <c:pt idx="27">
                  <c:v>172.5</c:v>
                </c:pt>
                <c:pt idx="28">
                  <c:v>172.5</c:v>
                </c:pt>
                <c:pt idx="29">
                  <c:v>172.5</c:v>
                </c:pt>
                <c:pt idx="30">
                  <c:v>172.5</c:v>
                </c:pt>
                <c:pt idx="31">
                  <c:v>172.5</c:v>
                </c:pt>
                <c:pt idx="32">
                  <c:v>172.5</c:v>
                </c:pt>
                <c:pt idx="33">
                  <c:v>172.5</c:v>
                </c:pt>
                <c:pt idx="34">
                  <c:v>172.5</c:v>
                </c:pt>
                <c:pt idx="35">
                  <c:v>172.5</c:v>
                </c:pt>
                <c:pt idx="36">
                  <c:v>172.5</c:v>
                </c:pt>
                <c:pt idx="37">
                  <c:v>172.5</c:v>
                </c:pt>
                <c:pt idx="38">
                  <c:v>172.5</c:v>
                </c:pt>
                <c:pt idx="39">
                  <c:v>172.5</c:v>
                </c:pt>
                <c:pt idx="40">
                  <c:v>172.5</c:v>
                </c:pt>
                <c:pt idx="41">
                  <c:v>172.5</c:v>
                </c:pt>
                <c:pt idx="42">
                  <c:v>172.5</c:v>
                </c:pt>
                <c:pt idx="43">
                  <c:v>172.5</c:v>
                </c:pt>
                <c:pt idx="44">
                  <c:v>172.5</c:v>
                </c:pt>
                <c:pt idx="45">
                  <c:v>172.5</c:v>
                </c:pt>
                <c:pt idx="46">
                  <c:v>172.5</c:v>
                </c:pt>
                <c:pt idx="47">
                  <c:v>172.5</c:v>
                </c:pt>
                <c:pt idx="48">
                  <c:v>172.5</c:v>
                </c:pt>
                <c:pt idx="49">
                  <c:v>172.5</c:v>
                </c:pt>
                <c:pt idx="50">
                  <c:v>172.5</c:v>
                </c:pt>
              </c:numCache>
            </c:numRef>
          </c:xVal>
          <c:yVal>
            <c:numRef>
              <c:f>Sheet1!$B$2:$B$52</c:f>
              <c:numCache>
                <c:formatCode>"$"#,##0.00</c:formatCode>
                <c:ptCount val="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0.5</c:v>
                </c:pt>
                <c:pt idx="24">
                  <c:v>1.5</c:v>
                </c:pt>
                <c:pt idx="25">
                  <c:v>2.5</c:v>
                </c:pt>
                <c:pt idx="26">
                  <c:v>3.5</c:v>
                </c:pt>
                <c:pt idx="27">
                  <c:v>4.5</c:v>
                </c:pt>
                <c:pt idx="28">
                  <c:v>5.5</c:v>
                </c:pt>
                <c:pt idx="29">
                  <c:v>6.5</c:v>
                </c:pt>
                <c:pt idx="30">
                  <c:v>7.5</c:v>
                </c:pt>
                <c:pt idx="31">
                  <c:v>8.5</c:v>
                </c:pt>
                <c:pt idx="32">
                  <c:v>9.5</c:v>
                </c:pt>
                <c:pt idx="33">
                  <c:v>10.5</c:v>
                </c:pt>
                <c:pt idx="34">
                  <c:v>11.5</c:v>
                </c:pt>
                <c:pt idx="35">
                  <c:v>12.5</c:v>
                </c:pt>
                <c:pt idx="36">
                  <c:v>13.5</c:v>
                </c:pt>
                <c:pt idx="37">
                  <c:v>14.5</c:v>
                </c:pt>
                <c:pt idx="38">
                  <c:v>15.5</c:v>
                </c:pt>
                <c:pt idx="39">
                  <c:v>16.5</c:v>
                </c:pt>
                <c:pt idx="40">
                  <c:v>17.5</c:v>
                </c:pt>
                <c:pt idx="41">
                  <c:v>18.5</c:v>
                </c:pt>
                <c:pt idx="42">
                  <c:v>19.5</c:v>
                </c:pt>
                <c:pt idx="43">
                  <c:v>20.5</c:v>
                </c:pt>
                <c:pt idx="44">
                  <c:v>21.5</c:v>
                </c:pt>
                <c:pt idx="45">
                  <c:v>22.5</c:v>
                </c:pt>
                <c:pt idx="46">
                  <c:v>23.5</c:v>
                </c:pt>
                <c:pt idx="47">
                  <c:v>24.5</c:v>
                </c:pt>
                <c:pt idx="48">
                  <c:v>25.5</c:v>
                </c:pt>
                <c:pt idx="49">
                  <c:v>26.5</c:v>
                </c:pt>
                <c:pt idx="50">
                  <c:v>27.5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CFB-43B2-A739-6B30C27A6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5329824"/>
        <c:axId val="705330152"/>
      </c:scatterChart>
      <c:valAx>
        <c:axId val="705329824"/>
        <c:scaling>
          <c:orientation val="minMax"/>
          <c:max val="200"/>
          <c:min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>
                    <a:solidFill>
                      <a:sysClr val="windowText" lastClr="000000"/>
                    </a:solidFill>
                  </a:rPr>
                  <a:t>Stock Price at 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330152"/>
        <c:crosses val="autoZero"/>
        <c:crossBetween val="midCat"/>
      </c:valAx>
      <c:valAx>
        <c:axId val="7053301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>
                    <a:solidFill>
                      <a:sysClr val="windowText" lastClr="000000"/>
                    </a:solidFill>
                  </a:rPr>
                  <a:t>Call Option Payoff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3298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Economic</c:v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3747E7E-5EF6-4930-B30C-3A44B9FB568B}" type="CELLRANGE">
                      <a:rPr lang="en-US"/>
                      <a:pPr>
                        <a:defRPr sz="1800">
                          <a:solidFill>
                            <a:srgbClr val="FF0000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489B-4109-8F95-BB9AEF1C3B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32F190-001A-4F2F-AC28-57ED4E95951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489B-4109-8F95-BB9AEF1C3B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DB1A47E-7127-4BD8-A2FA-97E515257CD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489B-4109-8F95-BB9AEF1C3B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72D5E3F-C74A-4F73-91E0-EC18048C825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89B-4109-8F95-BB9AEF1C3B0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05FEBF32-A803-43A6-BC4C-06F00B0918D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489B-4109-8F95-BB9AEF1C3B0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ED7E08B-B137-41FF-96C9-6E407DF861D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89B-4109-8F95-BB9AEF1C3B0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2E938C0F-B0F0-4E5A-A481-440393C3472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489B-4109-8F95-BB9AEF1C3B0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397EBFF8-F99A-4E0E-A47C-8EA5777D865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489B-4109-8F95-BB9AEF1C3B0B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E8717C6D-822F-4C0B-A978-AD773D99B0B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489B-4109-8F95-BB9AEF1C3B0B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57F50C4F-B979-42D0-BC86-9013C1A08FC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489B-4109-8F95-BB9AEF1C3B0B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14029F9A-7DA8-44D8-8FBB-7D2C5F74F81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489B-4109-8F95-BB9AEF1C3B0B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C3B15C63-C6F3-473F-84B4-6C21F0EC9F0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489B-4109-8F95-BB9AEF1C3B0B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72E3A84E-6A1F-41A3-A080-19D328D18C0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489B-4109-8F95-BB9AEF1C3B0B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269F6EA8-943D-48B2-8C9E-4925D29DF0F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489B-4109-8F95-BB9AEF1C3B0B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732D71C2-2386-43B8-A739-A8FB15F06BC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489B-4109-8F95-BB9AEF1C3B0B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87218269-DA09-4794-A929-DC18A569EC5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489B-4109-8F95-BB9AEF1C3B0B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D14DE00E-734A-45A9-89CD-7CCF065EC54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489B-4109-8F95-BB9AEF1C3B0B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0BC2BD75-0C38-4CBD-B2A2-590AEE22610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489B-4109-8F95-BB9AEF1C3B0B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fld id="{45A588CD-F410-4776-B586-A8272A2B9AB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489B-4109-8F95-BB9AEF1C3B0B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fld id="{C52A39BC-8DA6-46EC-8FA6-ADD0BE8CC00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489B-4109-8F95-BB9AEF1C3B0B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fld id="{644C6E5F-09AA-4D80-94BB-7F172F50E2B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489B-4109-8F95-BB9AEF1C3B0B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fld id="{69DD0631-1FCD-47C3-8409-2B6914A6C1C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489B-4109-8F95-BB9AEF1C3B0B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fld id="{244F0E62-6590-483A-B787-98612DB3953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489B-4109-8F95-BB9AEF1C3B0B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fld id="{B0208DC5-0048-4D4F-B493-DFB31325307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489B-4109-8F95-BB9AEF1C3B0B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fld id="{91A7DEF4-9993-46B1-A50D-D24BB2DB901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489B-4109-8F95-BB9AEF1C3B0B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fld id="{65E20C18-B9AE-498A-9211-CB9BE8A768F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489B-4109-8F95-BB9AEF1C3B0B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fld id="{49AD0904-9FDA-4D2A-AD3E-659095761A2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489B-4109-8F95-BB9AEF1C3B0B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fld id="{B45D8FFF-6B03-45A4-B41F-346AFA37F27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489B-4109-8F95-BB9AEF1C3B0B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fld id="{E35046B2-ECF0-4A1C-B6A4-4E43F2B58DD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489B-4109-8F95-BB9AEF1C3B0B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fld id="{766DC116-0586-4476-8B8C-C89787CE5A0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489B-4109-8F95-BB9AEF1C3B0B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fld id="{F0934571-264D-43B3-8B63-A7953611AAF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489B-4109-8F95-BB9AEF1C3B0B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fld id="{45935C47-4F9E-413B-A87F-F8C9645AB9E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489B-4109-8F95-BB9AEF1C3B0B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fld id="{BB5D97A6-7494-460D-BA23-53DAAF98B2B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489B-4109-8F95-BB9AEF1C3B0B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fld id="{E65C1AF6-D98A-488A-BD23-F1C81820C5B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489B-4109-8F95-BB9AEF1C3B0B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fld id="{7CE71EEA-0509-46FF-B074-2CDE7B73A83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489B-4109-8F95-BB9AEF1C3B0B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fld id="{7036D031-6563-4176-8D4B-7DCA954A680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489B-4109-8F95-BB9AEF1C3B0B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fld id="{CC011A6F-E69B-4F6F-AC9A-113CB7FC9FC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489B-4109-8F95-BB9AEF1C3B0B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fld id="{CBCC5827-33F2-437D-BF0D-95B0B89C615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489B-4109-8F95-BB9AEF1C3B0B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fld id="{66A3E3E9-B589-48DC-8A0D-A90224F413D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489B-4109-8F95-BB9AEF1C3B0B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fld id="{66B31376-EFA9-4522-8B8E-7C079556BB6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489B-4109-8F95-BB9AEF1C3B0B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fld id="{84F6109D-6825-4471-B78F-EC5E31CAA69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489B-4109-8F95-BB9AEF1C3B0B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fld id="{F4FEDB1B-E4D6-4AC8-AFC0-A1309B4C16B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489B-4109-8F95-BB9AEF1C3B0B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fld id="{2DB140AD-2925-4C25-92DE-3552F1B18F6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489B-4109-8F95-BB9AEF1C3B0B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fld id="{2B800FC7-C866-47D3-889F-8401D05B0FB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489B-4109-8F95-BB9AEF1C3B0B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fld id="{42DFC447-32E8-475F-8A80-5B2D1213F16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489B-4109-8F95-BB9AEF1C3B0B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fld id="{CAE21934-D357-4445-AC2A-D1068DC511A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489B-4109-8F95-BB9AEF1C3B0B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fld id="{C2138CE1-233A-46F9-BE56-E9AF115A27D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489B-4109-8F95-BB9AEF1C3B0B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fld id="{6409AD5F-1D6E-4845-A1DC-CD76777CC57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489B-4109-8F95-BB9AEF1C3B0B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fld id="{F81DC1DE-A3C5-4157-BB9B-A5BA692D34D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489B-4109-8F95-BB9AEF1C3B0B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fld id="{5F7C280A-0B25-4A4C-BACB-15A1EA86C50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489B-4109-8F95-BB9AEF1C3B0B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fld id="{2C2C281C-9693-417B-B300-ED45D3F3361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489B-4109-8F95-BB9AEF1C3B0B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fld id="{57FF4358-D402-488E-B5BB-48B5A238154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489B-4109-8F95-BB9AEF1C3B0B}"/>
                </c:ext>
              </c:extLst>
            </c:dLbl>
            <c:dLbl>
              <c:idx val="52"/>
              <c:layout>
                <c:manualLayout>
                  <c:x val="3.4074464994888875E-3"/>
                  <c:y val="-0.2664190345771995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7839DE7-8B5F-4CF1-89C1-7682FB794B65}" type="CELLRANGE">
                      <a:rPr lang="en-US" baseline="0"/>
                      <a:pPr>
                        <a:defRPr sz="1800">
                          <a:solidFill>
                            <a:srgbClr val="00B050"/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E2DD1853-7A23-4E37-9AA9-11D5E1643707}" type="XVALUE">
                      <a:rPr lang="en-US" baseline="0"/>
                      <a:pPr>
                        <a:defRPr sz="1800">
                          <a:solidFill>
                            <a:srgbClr val="00B050"/>
                          </a:solidFill>
                        </a:defRPr>
                      </a:pPr>
                      <a:t>[X 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4-489B-4109-8F95-BB9AEF1C3B0B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fld id="{7B7949B6-7A40-4393-9E1D-E6CB6C871C5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489B-4109-8F95-BB9AEF1C3B0B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fld id="{CCAAA053-7532-4AC4-9AD3-A8DF884E6E0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489B-4109-8F95-BB9AEF1C3B0B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fld id="{F2E2D1D6-BF09-4393-AEAD-35821D1684D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489B-4109-8F95-BB9AEF1C3B0B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fld id="{C23D8BB3-A989-4552-9296-CDC800DCABF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489B-4109-8F95-BB9AEF1C3B0B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fld id="{B243E35E-DD66-42C1-9E09-F17723F6E18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489B-4109-8F95-BB9AEF1C3B0B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fld id="{569503BB-2074-491F-B5D9-4328F110E08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489B-4109-8F95-BB9AEF1C3B0B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fld id="{B7BC2536-26A8-4505-9308-D14588AD7F5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489B-4109-8F95-BB9AEF1C3B0B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fld id="{320EA3CE-D1B0-4D5D-86A4-73EA63B5AB2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489B-4109-8F95-BB9AEF1C3B0B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fld id="{021CE874-F39E-4D42-A217-C5CEB952DBD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489B-4109-8F95-BB9AEF1C3B0B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fld id="{6575884D-5ADB-44D4-8662-626467367C2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489B-4109-8F95-BB9AEF1C3B0B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fld id="{B2D34D20-0D1C-4622-96C1-CDDD6106D7E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489B-4109-8F95-BB9AEF1C3B0B}"/>
                </c:ext>
              </c:extLst>
            </c:dLbl>
            <c:dLbl>
              <c:idx val="64"/>
              <c:layout>
                <c:manualLayout>
                  <c:x val="-7.3117431709377637E-2"/>
                  <c:y val="-0.1714673437559436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CA71B13-9134-4C90-8D4F-305A3C11E315}" type="CELLRANGE">
                      <a:rPr lang="en-US" baseline="0"/>
                      <a:pPr>
                        <a:defRPr sz="1800">
                          <a:solidFill>
                            <a:srgbClr val="00B050"/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4CFE963C-7075-41D6-B74B-E47732E72E97}" type="XVALUE">
                      <a:rPr lang="en-US" baseline="0"/>
                      <a:pPr>
                        <a:defRPr sz="1800">
                          <a:solidFill>
                            <a:srgbClr val="00B050"/>
                          </a:solidFill>
                        </a:defRPr>
                      </a:pPr>
                      <a:t>[X 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0-489B-4109-8F95-BB9AEF1C3B0B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fld id="{0B82B423-9434-453C-91AA-6A12A271F89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489B-4109-8F95-BB9AEF1C3B0B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fld id="{C52A246E-6FCB-426F-91EC-D5358DC16DF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489B-4109-8F95-BB9AEF1C3B0B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fld id="{4091A812-3A96-4EA1-A3FD-C97A82F7C01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489B-4109-8F95-BB9AEF1C3B0B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fld id="{132D56C5-AAEA-41AF-B8DF-1A7C44EFED3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489B-4109-8F95-BB9AEF1C3B0B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fld id="{B412A07E-F75A-40C7-AD3D-875F004676E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489B-4109-8F95-BB9AEF1C3B0B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fld id="{24E0470A-E18F-4DB6-8AF0-461FB6A7119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489B-4109-8F95-BB9AEF1C3B0B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fld id="{99924D0D-A242-4B74-8645-5840B523176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489B-4109-8F95-BB9AEF1C3B0B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fld id="{F090495A-DCD9-4F2F-ABC0-FA28FC4B10E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489B-4109-8F95-BB9AEF1C3B0B}"/>
                </c:ext>
              </c:extLst>
            </c:dLbl>
            <c:dLbl>
              <c:idx val="7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333C617-8DF2-4DDB-B63C-F715F52562C3}" type="CELLRANGE">
                      <a:rPr lang="en-US" baseline="0"/>
                      <a:pPr>
                        <a:defRPr sz="1800">
                          <a:solidFill>
                            <a:srgbClr val="FF0000"/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4256FE70-010F-4517-81D8-8C918981CBA1}" type="XVALUE">
                      <a:rPr lang="en-US" baseline="0"/>
                      <a:pPr>
                        <a:defRPr sz="1800">
                          <a:solidFill>
                            <a:srgbClr val="FF0000"/>
                          </a:solidFill>
                        </a:defRPr>
                      </a:pPr>
                      <a:t>[X 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9-489B-4109-8F95-BB9AEF1C3B0B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fld id="{D956668A-1B8F-44FA-9C98-2A2785D64D4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489B-4109-8F95-BB9AEF1C3B0B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fld id="{A6F3DD4D-52B4-44A8-9B54-996542ED556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489B-4109-8F95-BB9AEF1C3B0B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489B-4109-8F95-BB9AEF1C3B0B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fld id="{756777D1-B7D1-433C-AE98-21CB22CCBD5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489B-4109-8F95-BB9AEF1C3B0B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fld id="{295E1C05-C903-4ADB-8134-E1E8DBA75BA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489B-4109-8F95-BB9AEF1C3B0B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fld id="{84AFCA00-416B-4C94-A9F4-BBF36D106D8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489B-4109-8F95-BB9AEF1C3B0B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fld id="{A5D6E868-D5D8-4307-B7D1-3DDC24E276C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489B-4109-8F95-BB9AEF1C3B0B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fld id="{1CC0EF5D-9AFA-4A75-B3FD-507A7BDCAE8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489B-4109-8F95-BB9AEF1C3B0B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fld id="{E2F8CC4E-0854-4AFB-9283-EFDFAD51574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489B-4109-8F95-BB9AEF1C3B0B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fld id="{CE294F9F-1A73-43A8-9ED5-D6D3A28DBEE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489B-4109-8F95-BB9AEF1C3B0B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fld id="{C83CFE85-F4B6-40DB-92B5-41B646B4FD9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489B-4109-8F95-BB9AEF1C3B0B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fld id="{9C1342AC-F839-4367-85D1-B0DFA364B14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489B-4109-8F95-BB9AEF1C3B0B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fld id="{A69963E1-4599-46E9-B665-F21E4638232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489B-4109-8F95-BB9AEF1C3B0B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fld id="{5A1C4E73-F2C5-44F4-9FBD-0B1EF39F64B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489B-4109-8F95-BB9AEF1C3B0B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fld id="{56482F47-E885-4595-84CA-390201BE285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489B-4109-8F95-BB9AEF1C3B0B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fld id="{A7297489-82AA-490F-94F4-A40802B2147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489B-4109-8F95-BB9AEF1C3B0B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fld id="{DF3E93C7-66CB-4B30-9895-55D2003908F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489B-4109-8F95-BB9AEF1C3B0B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fld id="{2C85F640-3392-4429-9853-4C529C1F72D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489B-4109-8F95-BB9AEF1C3B0B}"/>
                </c:ext>
              </c:extLst>
            </c:dLbl>
            <c:dLbl>
              <c:idx val="9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21A7F32-5CCF-46AE-9DFA-53883FF11228}" type="CELLRANGE">
                      <a:rPr lang="en-US" baseline="0"/>
                      <a:pPr>
                        <a:defRPr sz="1800">
                          <a:solidFill>
                            <a:srgbClr val="0070C0"/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D90BF138-BDB3-43BE-A8D6-778FB6A5759E}" type="XVALUE">
                      <a:rPr lang="en-US" baseline="0"/>
                      <a:pPr>
                        <a:defRPr sz="1800">
                          <a:solidFill>
                            <a:srgbClr val="0070C0"/>
                          </a:solidFill>
                        </a:defRPr>
                      </a:pPr>
                      <a:t>[X 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C-489B-4109-8F95-BB9AEF1C3B0B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fld id="{B69CA5C1-0C00-42F7-A18E-5FD96E1A35E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489B-4109-8F95-BB9AEF1C3B0B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fld id="{FB0860DE-34FA-4299-AF0B-C9CF2E79A80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489B-4109-8F95-BB9AEF1C3B0B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fld id="{F80D9B8C-4047-4314-83EA-B11CB55CD49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489B-4109-8F95-BB9AEF1C3B0B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fld id="{FACFA129-C87A-442A-B9EB-9326DD83832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489B-4109-8F95-BB9AEF1C3B0B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fld id="{8D6AC59A-1CD5-4CC0-892F-DA2A2A0E875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489B-4109-8F95-BB9AEF1C3B0B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fld id="{DB611EF9-E79C-4AEC-8208-EEA784DEB0A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489B-4109-8F95-BB9AEF1C3B0B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fld id="{5F80496A-72AE-4155-A2B6-0434B88830C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489B-4109-8F95-BB9AEF1C3B0B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fld id="{0070E99E-795E-4432-93C1-E2356CF0340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489B-4109-8F95-BB9AEF1C3B0B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fld id="{98CD4B8D-9601-4DC4-8824-ADAEB2EE311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489B-4109-8F95-BB9AEF1C3B0B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fld id="{DE7CCC97-7B7E-4DCA-82CE-9223980F276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489B-4109-8F95-BB9AEF1C3B0B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fld id="{BEEA847D-C6C2-4A5A-BCFC-E31258DC83B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489B-4109-8F95-BB9AEF1C3B0B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fld id="{3F218279-46CE-4240-B995-355E177FDD3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489B-4109-8F95-BB9AEF1C3B0B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fld id="{0E9A3DA2-6DA8-4210-AC98-D1D154CF1BB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489B-4109-8F95-BB9AEF1C3B0B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fld id="{B0A3D2E7-092F-45EC-9A4A-ACC46C1AB4A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489B-4109-8F95-BB9AEF1C3B0B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fld id="{8F77B4C9-ACFC-40DF-BCF6-8C677B84CCA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489B-4109-8F95-BB9AEF1C3B0B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fld id="{F8082FB8-834D-44C0-8F09-C30B0FC4D00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489B-4109-8F95-BB9AEF1C3B0B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fld id="{F600F6C2-5BFD-4B02-A578-E479F2E0060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489B-4109-8F95-BB9AEF1C3B0B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fld id="{C9FAC620-BBDE-43D6-A4AE-BF7807999C6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489B-4109-8F95-BB9AEF1C3B0B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fld id="{07B0CAD3-3555-44AA-9A13-017EB1EB35B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489B-4109-8F95-BB9AEF1C3B0B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fld id="{5CBF541B-57C4-4C9B-94A1-8B572B4AC40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489B-4109-8F95-BB9AEF1C3B0B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fld id="{982695A4-EF3F-48A4-98B0-544D9E45C80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489B-4109-8F95-BB9AEF1C3B0B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fld id="{DCFD993D-7D8A-4F1B-BD18-9069A46D802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489B-4109-8F95-BB9AEF1C3B0B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fld id="{254E41A1-A5B2-4358-8ECA-3FA8558C4CC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489B-4109-8F95-BB9AEF1C3B0B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fld id="{93597412-D3F4-47D5-AFA4-F455A25FF2D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489B-4109-8F95-BB9AEF1C3B0B}"/>
                </c:ext>
              </c:extLst>
            </c:dLbl>
            <c:dLbl>
              <c:idx val="1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489B-4109-8F95-BB9AEF1C3B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Events!$A$2:$A$119</c:f>
              <c:numCache>
                <c:formatCode>General</c:formatCode>
                <c:ptCount val="118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  <c:pt idx="56">
                  <c:v>1956</c:v>
                </c:pt>
                <c:pt idx="57">
                  <c:v>1957</c:v>
                </c:pt>
                <c:pt idx="58">
                  <c:v>1958</c:v>
                </c:pt>
                <c:pt idx="59">
                  <c:v>1959</c:v>
                </c:pt>
                <c:pt idx="60">
                  <c:v>1960</c:v>
                </c:pt>
                <c:pt idx="61">
                  <c:v>1961</c:v>
                </c:pt>
                <c:pt idx="62">
                  <c:v>1962</c:v>
                </c:pt>
                <c:pt idx="63">
                  <c:v>1963</c:v>
                </c:pt>
                <c:pt idx="64">
                  <c:v>1964</c:v>
                </c:pt>
                <c:pt idx="65">
                  <c:v>1965</c:v>
                </c:pt>
                <c:pt idx="66">
                  <c:v>1966</c:v>
                </c:pt>
                <c:pt idx="67">
                  <c:v>1967</c:v>
                </c:pt>
                <c:pt idx="68">
                  <c:v>1968</c:v>
                </c:pt>
                <c:pt idx="69">
                  <c:v>1969</c:v>
                </c:pt>
                <c:pt idx="70">
                  <c:v>1970</c:v>
                </c:pt>
                <c:pt idx="71">
                  <c:v>1971</c:v>
                </c:pt>
                <c:pt idx="72">
                  <c:v>1972</c:v>
                </c:pt>
                <c:pt idx="73">
                  <c:v>1973</c:v>
                </c:pt>
                <c:pt idx="74">
                  <c:v>1974</c:v>
                </c:pt>
                <c:pt idx="75">
                  <c:v>1975</c:v>
                </c:pt>
                <c:pt idx="76">
                  <c:v>1976</c:v>
                </c:pt>
                <c:pt idx="77">
                  <c:v>1977</c:v>
                </c:pt>
                <c:pt idx="78">
                  <c:v>1978</c:v>
                </c:pt>
                <c:pt idx="79">
                  <c:v>1979</c:v>
                </c:pt>
                <c:pt idx="80">
                  <c:v>1980</c:v>
                </c:pt>
                <c:pt idx="81">
                  <c:v>1981</c:v>
                </c:pt>
                <c:pt idx="82">
                  <c:v>1982</c:v>
                </c:pt>
                <c:pt idx="83">
                  <c:v>1983</c:v>
                </c:pt>
                <c:pt idx="84">
                  <c:v>1984</c:v>
                </c:pt>
                <c:pt idx="85">
                  <c:v>1985</c:v>
                </c:pt>
                <c:pt idx="86">
                  <c:v>1986</c:v>
                </c:pt>
                <c:pt idx="87">
                  <c:v>1987</c:v>
                </c:pt>
                <c:pt idx="88">
                  <c:v>1988</c:v>
                </c:pt>
                <c:pt idx="89">
                  <c:v>1989</c:v>
                </c:pt>
                <c:pt idx="90">
                  <c:v>1990</c:v>
                </c:pt>
                <c:pt idx="91">
                  <c:v>1991</c:v>
                </c:pt>
                <c:pt idx="92">
                  <c:v>1992</c:v>
                </c:pt>
                <c:pt idx="93">
                  <c:v>1993</c:v>
                </c:pt>
                <c:pt idx="94">
                  <c:v>1994</c:v>
                </c:pt>
                <c:pt idx="95">
                  <c:v>1995</c:v>
                </c:pt>
                <c:pt idx="96">
                  <c:v>1996</c:v>
                </c:pt>
                <c:pt idx="97">
                  <c:v>1997</c:v>
                </c:pt>
                <c:pt idx="98">
                  <c:v>1998</c:v>
                </c:pt>
                <c:pt idx="99">
                  <c:v>1999</c:v>
                </c:pt>
                <c:pt idx="100">
                  <c:v>2000</c:v>
                </c:pt>
                <c:pt idx="101">
                  <c:v>2001</c:v>
                </c:pt>
                <c:pt idx="102">
                  <c:v>2002</c:v>
                </c:pt>
                <c:pt idx="103">
                  <c:v>2003</c:v>
                </c:pt>
                <c:pt idx="104">
                  <c:v>2004</c:v>
                </c:pt>
                <c:pt idx="105">
                  <c:v>2005</c:v>
                </c:pt>
                <c:pt idx="106">
                  <c:v>2006</c:v>
                </c:pt>
                <c:pt idx="107">
                  <c:v>2007</c:v>
                </c:pt>
                <c:pt idx="108">
                  <c:v>2008</c:v>
                </c:pt>
                <c:pt idx="109">
                  <c:v>2009</c:v>
                </c:pt>
                <c:pt idx="110">
                  <c:v>2010</c:v>
                </c:pt>
                <c:pt idx="111">
                  <c:v>2011</c:v>
                </c:pt>
                <c:pt idx="112">
                  <c:v>2012</c:v>
                </c:pt>
                <c:pt idx="113">
                  <c:v>2013</c:v>
                </c:pt>
                <c:pt idx="114">
                  <c:v>2014</c:v>
                </c:pt>
                <c:pt idx="115">
                  <c:v>2015</c:v>
                </c:pt>
                <c:pt idx="116">
                  <c:v>2016</c:v>
                </c:pt>
                <c:pt idx="117">
                  <c:v>2017</c:v>
                </c:pt>
              </c:numCache>
            </c:numRef>
          </c:xVal>
          <c:yVal>
            <c:numRef>
              <c:f>Events!$B$2:$B$119</c:f>
              <c:numCache>
                <c:formatCode>General</c:formatCode>
                <c:ptCount val="1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Events!$C$2:$C$119</c15:f>
                <c15:dlblRangeCache>
                  <c:ptCount val="118"/>
                  <c:pt idx="0">
                    <c:v>Bachelier's Brownian Motion</c:v>
                  </c:pt>
                  <c:pt idx="52">
                    <c:v>Markowitz's Portfolio Theory</c:v>
                  </c:pt>
                  <c:pt idx="64">
                    <c:v>Sharpe's CAPM</c:v>
                  </c:pt>
                  <c:pt idx="73">
                    <c:v>Black &amp; Scholes' Option Pricing</c:v>
                  </c:pt>
                  <c:pt idx="92">
                    <c:v>Fama French 3 Factor Model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76-489B-4109-8F95-BB9AEF1C3B0B}"/>
            </c:ext>
          </c:extLst>
        </c:ser>
        <c:ser>
          <c:idx val="1"/>
          <c:order val="1"/>
          <c:tx>
            <c:v>Industry</c:v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fld id="{2E8B6357-6621-4E21-A9D7-530EA1DB5AD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7-489B-4109-8F95-BB9AEF1C3B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C2E077B-790A-41CC-84BB-AC306575B44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489B-4109-8F95-BB9AEF1C3B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BBC74E0-FBB6-46F0-978A-A5B53E09A1B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489B-4109-8F95-BB9AEF1C3B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37AE06A-DF98-413D-8E90-BBFC02AD932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489B-4109-8F95-BB9AEF1C3B0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8FCE670-DB5B-4002-806E-9D8F75026EA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489B-4109-8F95-BB9AEF1C3B0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7EE5EFA7-599B-498D-95D9-B48F0C393E2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489B-4109-8F95-BB9AEF1C3B0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A4351E73-118A-4C3A-8138-E27B2F8448C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489B-4109-8F95-BB9AEF1C3B0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71C9023F-5141-4CAF-AED2-040A0589BD6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489B-4109-8F95-BB9AEF1C3B0B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57A09CEB-97C5-44AF-9261-A73B9E5805F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489B-4109-8F95-BB9AEF1C3B0B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9A016C2E-6665-46E7-A87D-C4FC43696E3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489B-4109-8F95-BB9AEF1C3B0B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75A6F083-AA26-4581-A393-C4739C095BD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489B-4109-8F95-BB9AEF1C3B0B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A7FF4F63-A806-4AB2-AFBB-CA78B6877FD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489B-4109-8F95-BB9AEF1C3B0B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AFEFFDB3-C9EA-4E11-B96D-431934B7862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489B-4109-8F95-BB9AEF1C3B0B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ADB84EDC-507C-4AD0-BA1C-C73BE7B2677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489B-4109-8F95-BB9AEF1C3B0B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2DA4566C-FC4A-498C-B936-37E5A736D4B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489B-4109-8F95-BB9AEF1C3B0B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5281D262-14BF-4D99-BE50-F82E5E8DE36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489B-4109-8F95-BB9AEF1C3B0B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21D21753-92B5-472B-9140-A003D701727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489B-4109-8F95-BB9AEF1C3B0B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177A7E13-1C55-4D6B-A487-619BD15D380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489B-4109-8F95-BB9AEF1C3B0B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fld id="{E7E338CB-4696-44E5-A720-7DCE5FC5E50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489B-4109-8F95-BB9AEF1C3B0B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fld id="{55E37A57-D7F0-4848-9FCF-96CF81714E5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489B-4109-8F95-BB9AEF1C3B0B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fld id="{F8C4517D-2889-4DFB-923D-4E5602FD060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489B-4109-8F95-BB9AEF1C3B0B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fld id="{61DA6A8A-2D82-4514-93DD-67E572D5A49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489B-4109-8F95-BB9AEF1C3B0B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fld id="{203AF537-C447-476F-91CB-4E50862E127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489B-4109-8F95-BB9AEF1C3B0B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fld id="{E303AC47-41E4-41B5-A3E2-32445837D30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489B-4109-8F95-BB9AEF1C3B0B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fld id="{1286E91B-BC21-4144-9D0D-45168882662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489B-4109-8F95-BB9AEF1C3B0B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fld id="{A763064D-01A9-4F5A-B766-5CCAE0E8872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489B-4109-8F95-BB9AEF1C3B0B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fld id="{542E031D-E4B0-49E6-A33F-2F2A65A24DB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1-489B-4109-8F95-BB9AEF1C3B0B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fld id="{65FEA9EE-8207-49E2-8EDF-F720D740F27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489B-4109-8F95-BB9AEF1C3B0B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fld id="{0CE80BB3-D6B2-4B49-8AFA-308315ED8F7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489B-4109-8F95-BB9AEF1C3B0B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fld id="{0674FC44-68C7-4E12-88D3-BAE764DFE8F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489B-4109-8F95-BB9AEF1C3B0B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fld id="{21BF63EC-A603-4E4F-9871-A38728D0DD8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489B-4109-8F95-BB9AEF1C3B0B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fld id="{E9989C18-BF49-491F-8142-F4E0E7CDAC7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489B-4109-8F95-BB9AEF1C3B0B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fld id="{8DB15ECD-DE0A-4DEE-B921-7F0B202CF36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489B-4109-8F95-BB9AEF1C3B0B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fld id="{E8ADF508-4196-4AD1-9DDF-DBED20A648A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489B-4109-8F95-BB9AEF1C3B0B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fld id="{5D871B64-F585-44D3-BF5A-AD5F2A1E306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489B-4109-8F95-BB9AEF1C3B0B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fld id="{7FBE9415-3DCF-4DE9-997C-8F3FD61EF10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489B-4109-8F95-BB9AEF1C3B0B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fld id="{3B7C48AE-0A71-4D4B-BBB6-24C604280F8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489B-4109-8F95-BB9AEF1C3B0B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fld id="{3AFA4673-F4BA-49D1-A8AC-6FF4246DFED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489B-4109-8F95-BB9AEF1C3B0B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fld id="{11436948-FFC6-4C79-B1A8-86E31BBC15C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489B-4109-8F95-BB9AEF1C3B0B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fld id="{343D66B5-C3AE-4046-AD14-9BF27426003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489B-4109-8F95-BB9AEF1C3B0B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fld id="{D3789718-F4AF-49D3-BF8A-93108A9F7D2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489B-4109-8F95-BB9AEF1C3B0B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fld id="{F68F958E-0671-43E4-8D45-9746AAE435A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489B-4109-8F95-BB9AEF1C3B0B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fld id="{5158136C-0698-4566-8BEF-33428F6A6B8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489B-4109-8F95-BB9AEF1C3B0B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fld id="{DD28CB14-BA0E-4242-95CA-92836357C53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489B-4109-8F95-BB9AEF1C3B0B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fld id="{4352E50E-7FB7-4DA7-B0FA-52ED85713CE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489B-4109-8F95-BB9AEF1C3B0B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fld id="{95AF6330-B47E-43CF-A32E-42B76430563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489B-4109-8F95-BB9AEF1C3B0B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fld id="{527401B6-0718-475A-81F5-9CC30E9F900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489B-4109-8F95-BB9AEF1C3B0B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fld id="{D3565379-126A-4930-864A-53FEE1560E5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489B-4109-8F95-BB9AEF1C3B0B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fld id="{B5EDA0BC-2F7C-4477-A243-B4F08C77908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489B-4109-8F95-BB9AEF1C3B0B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fld id="{2443499B-E77D-4BD2-99AE-477AE2638D1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489B-4109-8F95-BB9AEF1C3B0B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fld id="{DFAB4D26-7018-42FB-A143-1480E0296E0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489B-4109-8F95-BB9AEF1C3B0B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fld id="{6D38B9D7-4B77-4FE7-A39A-DE3A0F45030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489B-4109-8F95-BB9AEF1C3B0B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fld id="{F25C6D07-86CE-4F5C-B10B-7D31A54A15C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489B-4109-8F95-BB9AEF1C3B0B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fld id="{4D301896-D2D1-4B17-B164-D3192727973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489B-4109-8F95-BB9AEF1C3B0B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fld id="{23CCF89B-70A7-48CF-9FB9-98C3C22CF94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489B-4109-8F95-BB9AEF1C3B0B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fld id="{A0CF0C1B-AC65-48D5-9E78-1712BBD084A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489B-4109-8F95-BB9AEF1C3B0B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fld id="{A7650F99-299D-4E52-BD2C-1610D4C8792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489B-4109-8F95-BB9AEF1C3B0B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fld id="{258B787B-FA49-4B28-B108-D286C9A6CAE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489B-4109-8F95-BB9AEF1C3B0B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fld id="{085B4CBC-495F-49FF-BF16-9EA939E7DCC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489B-4109-8F95-BB9AEF1C3B0B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fld id="{07A594C8-8074-43CF-BD4D-048BD001DAD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489B-4109-8F95-BB9AEF1C3B0B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fld id="{98AF9D91-ADBA-4C13-9442-5EDDABED332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489B-4109-8F95-BB9AEF1C3B0B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fld id="{584E27F2-6D4D-4403-86AB-FB324AECBD3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489B-4109-8F95-BB9AEF1C3B0B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fld id="{18E7180A-93DD-4895-935C-911E7F61202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489B-4109-8F95-BB9AEF1C3B0B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fld id="{2F9619A0-928C-4416-9A90-31A04794E1C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489B-4109-8F95-BB9AEF1C3B0B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fld id="{5A37E542-5838-4471-BE81-DC3C98F0B69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489B-4109-8F95-BB9AEF1C3B0B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fld id="{BB5981B8-866A-48E6-ACE1-1DFB6E01021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489B-4109-8F95-BB9AEF1C3B0B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fld id="{7627293F-260E-4AC1-9624-F729B5CA24C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489B-4109-8F95-BB9AEF1C3B0B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fld id="{5E5D20CC-5DE3-4490-8DBB-EA9DC2A4D69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489B-4109-8F95-BB9AEF1C3B0B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fld id="{E9F51C49-88DF-46B1-B061-C58745BB187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489B-4109-8F95-BB9AEF1C3B0B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fld id="{BB51BD27-2E2C-4A44-BB5C-A2659242284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489B-4109-8F95-BB9AEF1C3B0B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fld id="{EBDE1FE5-2F38-4A6C-8F3E-20FF2A42018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489B-4109-8F95-BB9AEF1C3B0B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fld id="{D08A2950-C25A-46F2-A1B3-E9B3DA6E76B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489B-4109-8F95-BB9AEF1C3B0B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fld id="{0336BF3F-7DD9-476A-ACD5-EF2754060E7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489B-4109-8F95-BB9AEF1C3B0B}"/>
                </c:ext>
              </c:extLst>
            </c:dLbl>
            <c:dLbl>
              <c:idx val="73"/>
              <c:layout>
                <c:manualLayout>
                  <c:x val="-9.5373112154278378E-2"/>
                  <c:y val="9.658830689642056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158080E-E023-464A-A764-EC2487F891F3}" type="CELLRANGE">
                      <a:rPr lang="en-US" baseline="0"/>
                      <a:pPr>
                        <a:defRPr sz="1800">
                          <a:solidFill>
                            <a:srgbClr val="FF0000"/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5CD876CC-1694-49B9-B1D4-D1A8CF2DD297}" type="XVALUE">
                      <a:rPr lang="en-US" baseline="0"/>
                      <a:pPr>
                        <a:defRPr sz="1800">
                          <a:solidFill>
                            <a:srgbClr val="FF0000"/>
                          </a:solidFill>
                        </a:defRPr>
                      </a:pPr>
                      <a:t>[X 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0-489B-4109-8F95-BB9AEF1C3B0B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fld id="{1741BD3E-E58F-474C-957A-8EB6AD36894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489B-4109-8F95-BB9AEF1C3B0B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fld id="{C6341567-D0CE-470C-9F2F-00ACD9ECD86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489B-4109-8F95-BB9AEF1C3B0B}"/>
                </c:ext>
              </c:extLst>
            </c:dLbl>
            <c:dLbl>
              <c:idx val="76"/>
              <c:layout>
                <c:manualLayout>
                  <c:x val="-9.2196542173991133E-2"/>
                  <c:y val="0.2463165202175814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4E9A42B-1CD3-446F-8D54-D56B5CFCC35C}" type="CELLRANGE">
                      <a:rPr lang="en-US" baseline="0"/>
                      <a:pPr>
                        <a:defRPr sz="1800">
                          <a:solidFill>
                            <a:srgbClr val="00B050"/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24E081C7-1FC6-453B-8BFC-C785E9F662CC}" type="XVALUE">
                      <a:rPr lang="en-US" baseline="0"/>
                      <a:pPr>
                        <a:defRPr sz="1800">
                          <a:solidFill>
                            <a:srgbClr val="00B050"/>
                          </a:solidFill>
                        </a:defRPr>
                      </a:pPr>
                      <a:t>[X 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3-489B-4109-8F95-BB9AEF1C3B0B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fld id="{47195720-65A4-4E86-9FA8-9616EE6AD1D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489B-4109-8F95-BB9AEF1C3B0B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fld id="{708F74C8-06F8-41EF-BF76-A327FA7CD62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489B-4109-8F95-BB9AEF1C3B0B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fld id="{023EECEE-0888-4640-9355-3608E991A27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489B-4109-8F95-BB9AEF1C3B0B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fld id="{CCDC49CB-9793-4E62-BECE-1E02741202A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489B-4109-8F95-BB9AEF1C3B0B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fld id="{5691609B-F40F-4ADA-B281-2A664B755B8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489B-4109-8F95-BB9AEF1C3B0B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fld id="{D72051ED-413E-4F7E-B1E1-F07CBAB249D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489B-4109-8F95-BB9AEF1C3B0B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fld id="{1387B96C-7C18-400D-A69D-B394AB8ADDF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489B-4109-8F95-BB9AEF1C3B0B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fld id="{100BE7D3-CACE-48BF-B1C4-B9C8CF20A85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489B-4109-8F95-BB9AEF1C3B0B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fld id="{1562574E-F48C-4FB5-AA0A-7DF83D13925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489B-4109-8F95-BB9AEF1C3B0B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fld id="{EA333AB8-D506-448D-89DB-70D173483AB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489B-4109-8F95-BB9AEF1C3B0B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fld id="{E5BD0E90-097E-4184-9848-727AB772498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489B-4109-8F95-BB9AEF1C3B0B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fld id="{CE054A79-46A1-4108-B8F2-CD26BD2552A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489B-4109-8F95-BB9AEF1C3B0B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fld id="{F5009AF8-CBA5-4BCB-A858-E35D7B86F7F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489B-4109-8F95-BB9AEF1C3B0B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fld id="{276346C9-953D-4509-B59E-4CD09860254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489B-4109-8F95-BB9AEF1C3B0B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fld id="{D82F4118-9EB2-4390-8AF1-72DADE0198E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489B-4109-8F95-BB9AEF1C3B0B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fld id="{839E8C1F-4391-45BD-B0E2-A55021A158D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489B-4109-8F95-BB9AEF1C3B0B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fld id="{1E72CEAD-DEF9-4C90-8C09-276EFCFD45F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489B-4109-8F95-BB9AEF1C3B0B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fld id="{2F2A2012-0D16-4201-8E03-5DCF4E2D929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489B-4109-8F95-BB9AEF1C3B0B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fld id="{ACAD5861-B42F-4013-B643-8F945E23524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489B-4109-8F95-BB9AEF1C3B0B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fld id="{B96CCAAD-4E70-4412-AE4C-D4DE346D88C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489B-4109-8F95-BB9AEF1C3B0B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fld id="{83AB70B9-F5D4-4BDC-8F44-75C8E18159D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489B-4109-8F95-BB9AEF1C3B0B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fld id="{F8520099-4ED4-4872-8CFA-7B6D1153913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489B-4109-8F95-BB9AEF1C3B0B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fld id="{B54F446A-88C8-4C4F-A260-C11AD28B08C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489B-4109-8F95-BB9AEF1C3B0B}"/>
                </c:ext>
              </c:extLst>
            </c:dLbl>
            <c:dLbl>
              <c:idx val="100"/>
              <c:layout>
                <c:manualLayout>
                  <c:x val="-8.3950977544309441E-2"/>
                  <c:y val="0.1255435733576781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391DEA4-98E5-4BEE-9660-91C1D8A576EC}" type="CELLRANGE">
                      <a:rPr lang="en-US" baseline="0"/>
                      <a:pPr>
                        <a:defRPr sz="1800">
                          <a:solidFill>
                            <a:srgbClr val="0070C0"/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5446ECE9-6B48-4FC9-97BB-1F717C36CA91}" type="XVALUE">
                      <a:rPr lang="en-US" baseline="0"/>
                      <a:pPr>
                        <a:defRPr sz="1800">
                          <a:solidFill>
                            <a:srgbClr val="0070C0"/>
                          </a:solidFill>
                        </a:defRPr>
                      </a:pPr>
                      <a:t>[X 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B-489B-4109-8F95-BB9AEF1C3B0B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fld id="{FF7EA1BB-B421-43AA-AD1D-DAFA1B9588A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489B-4109-8F95-BB9AEF1C3B0B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fld id="{91A10B6A-7B0C-4304-8731-DA126943731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489B-4109-8F95-BB9AEF1C3B0B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fld id="{65C8147E-0B5E-460D-B6AA-73AE7037C6C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489B-4109-8F95-BB9AEF1C3B0B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fld id="{8DF5F4EC-5CAE-4269-8A80-1C734B89764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489B-4109-8F95-BB9AEF1C3B0B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fld id="{DC1CA5C4-87E1-4162-89BD-98D36EE8BC2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489B-4109-8F95-BB9AEF1C3B0B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fld id="{3CB45ABE-5970-4A0F-82CD-5E1D6741E3B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489B-4109-8F95-BB9AEF1C3B0B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fld id="{B59A7C0D-56F6-40DA-B061-C57C6FACBD8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489B-4109-8F95-BB9AEF1C3B0B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fld id="{A568D159-1158-401C-84A9-3329B8FB1D9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489B-4109-8F95-BB9AEF1C3B0B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fld id="{E6FDFD8B-3169-4AA4-95AC-768D7F1B0CA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489B-4109-8F95-BB9AEF1C3B0B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fld id="{E4206A73-1FA6-4183-81D5-55093FFDBA6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489B-4109-8F95-BB9AEF1C3B0B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fld id="{CFBF1A34-9DEB-4C23-8910-405223F6BEA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489B-4109-8F95-BB9AEF1C3B0B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fld id="{150B51C5-8A5F-44C3-A729-424AD95F36D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489B-4109-8F95-BB9AEF1C3B0B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fld id="{F53386C9-F41D-4C71-A531-516AA64E4F3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489B-4109-8F95-BB9AEF1C3B0B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fld id="{0C4912F2-3FB7-4AF6-945D-9860B7DAE89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489B-4109-8F95-BB9AEF1C3B0B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fld id="{C65EA6A3-E557-46DF-A756-D9C9E823C53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489B-4109-8F95-BB9AEF1C3B0B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fld id="{195FA909-7465-4B9F-B3EC-A44BD6EA731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489B-4109-8F95-BB9AEF1C3B0B}"/>
                </c:ext>
              </c:extLst>
            </c:dLbl>
            <c:dLbl>
              <c:idx val="117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368E68D-7EDE-424F-8E8E-7ED20F517ED9}" type="CELLRANGE">
                      <a:rPr lang="en-US"/>
                      <a:pPr>
                        <a:defRPr sz="2400">
                          <a:solidFill>
                            <a:sysClr val="windowText" lastClr="000000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0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489B-4109-8F95-BB9AEF1C3B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Events!$A$2:$A$119</c:f>
              <c:numCache>
                <c:formatCode>General</c:formatCode>
                <c:ptCount val="118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  <c:pt idx="56">
                  <c:v>1956</c:v>
                </c:pt>
                <c:pt idx="57">
                  <c:v>1957</c:v>
                </c:pt>
                <c:pt idx="58">
                  <c:v>1958</c:v>
                </c:pt>
                <c:pt idx="59">
                  <c:v>1959</c:v>
                </c:pt>
                <c:pt idx="60">
                  <c:v>1960</c:v>
                </c:pt>
                <c:pt idx="61">
                  <c:v>1961</c:v>
                </c:pt>
                <c:pt idx="62">
                  <c:v>1962</c:v>
                </c:pt>
                <c:pt idx="63">
                  <c:v>1963</c:v>
                </c:pt>
                <c:pt idx="64">
                  <c:v>1964</c:v>
                </c:pt>
                <c:pt idx="65">
                  <c:v>1965</c:v>
                </c:pt>
                <c:pt idx="66">
                  <c:v>1966</c:v>
                </c:pt>
                <c:pt idx="67">
                  <c:v>1967</c:v>
                </c:pt>
                <c:pt idx="68">
                  <c:v>1968</c:v>
                </c:pt>
                <c:pt idx="69">
                  <c:v>1969</c:v>
                </c:pt>
                <c:pt idx="70">
                  <c:v>1970</c:v>
                </c:pt>
                <c:pt idx="71">
                  <c:v>1971</c:v>
                </c:pt>
                <c:pt idx="72">
                  <c:v>1972</c:v>
                </c:pt>
                <c:pt idx="73">
                  <c:v>1973</c:v>
                </c:pt>
                <c:pt idx="74">
                  <c:v>1974</c:v>
                </c:pt>
                <c:pt idx="75">
                  <c:v>1975</c:v>
                </c:pt>
                <c:pt idx="76">
                  <c:v>1976</c:v>
                </c:pt>
                <c:pt idx="77">
                  <c:v>1977</c:v>
                </c:pt>
                <c:pt idx="78">
                  <c:v>1978</c:v>
                </c:pt>
                <c:pt idx="79">
                  <c:v>1979</c:v>
                </c:pt>
                <c:pt idx="80">
                  <c:v>1980</c:v>
                </c:pt>
                <c:pt idx="81">
                  <c:v>1981</c:v>
                </c:pt>
                <c:pt idx="82">
                  <c:v>1982</c:v>
                </c:pt>
                <c:pt idx="83">
                  <c:v>1983</c:v>
                </c:pt>
                <c:pt idx="84">
                  <c:v>1984</c:v>
                </c:pt>
                <c:pt idx="85">
                  <c:v>1985</c:v>
                </c:pt>
                <c:pt idx="86">
                  <c:v>1986</c:v>
                </c:pt>
                <c:pt idx="87">
                  <c:v>1987</c:v>
                </c:pt>
                <c:pt idx="88">
                  <c:v>1988</c:v>
                </c:pt>
                <c:pt idx="89">
                  <c:v>1989</c:v>
                </c:pt>
                <c:pt idx="90">
                  <c:v>1990</c:v>
                </c:pt>
                <c:pt idx="91">
                  <c:v>1991</c:v>
                </c:pt>
                <c:pt idx="92">
                  <c:v>1992</c:v>
                </c:pt>
                <c:pt idx="93">
                  <c:v>1993</c:v>
                </c:pt>
                <c:pt idx="94">
                  <c:v>1994</c:v>
                </c:pt>
                <c:pt idx="95">
                  <c:v>1995</c:v>
                </c:pt>
                <c:pt idx="96">
                  <c:v>1996</c:v>
                </c:pt>
                <c:pt idx="97">
                  <c:v>1997</c:v>
                </c:pt>
                <c:pt idx="98">
                  <c:v>1998</c:v>
                </c:pt>
                <c:pt idx="99">
                  <c:v>1999</c:v>
                </c:pt>
                <c:pt idx="100">
                  <c:v>2000</c:v>
                </c:pt>
                <c:pt idx="101">
                  <c:v>2001</c:v>
                </c:pt>
                <c:pt idx="102">
                  <c:v>2002</c:v>
                </c:pt>
                <c:pt idx="103">
                  <c:v>2003</c:v>
                </c:pt>
                <c:pt idx="104">
                  <c:v>2004</c:v>
                </c:pt>
                <c:pt idx="105">
                  <c:v>2005</c:v>
                </c:pt>
                <c:pt idx="106">
                  <c:v>2006</c:v>
                </c:pt>
                <c:pt idx="107">
                  <c:v>2007</c:v>
                </c:pt>
                <c:pt idx="108">
                  <c:v>2008</c:v>
                </c:pt>
                <c:pt idx="109">
                  <c:v>2009</c:v>
                </c:pt>
                <c:pt idx="110">
                  <c:v>2010</c:v>
                </c:pt>
                <c:pt idx="111">
                  <c:v>2011</c:v>
                </c:pt>
                <c:pt idx="112">
                  <c:v>2012</c:v>
                </c:pt>
                <c:pt idx="113">
                  <c:v>2013</c:v>
                </c:pt>
                <c:pt idx="114">
                  <c:v>2014</c:v>
                </c:pt>
                <c:pt idx="115">
                  <c:v>2015</c:v>
                </c:pt>
                <c:pt idx="116">
                  <c:v>2016</c:v>
                </c:pt>
                <c:pt idx="117">
                  <c:v>2017</c:v>
                </c:pt>
              </c:numCache>
            </c:numRef>
          </c:xVal>
          <c:yVal>
            <c:numRef>
              <c:f>Events!$B$2:$B$119</c:f>
              <c:numCache>
                <c:formatCode>General</c:formatCode>
                <c:ptCount val="1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Events!$D$2:$D$119</c15:f>
                <c15:dlblRangeCache>
                  <c:ptCount val="118"/>
                  <c:pt idx="73">
                    <c:v>CBOE Option Trading</c:v>
                  </c:pt>
                  <c:pt idx="76">
                    <c:v>Bogle's Vanguard 500 Index Fund</c:v>
                  </c:pt>
                  <c:pt idx="100">
                    <c:v>   Smart Beta ETFs</c:v>
                  </c:pt>
                  <c:pt idx="117">
                    <c:v>You!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ED-489B-4109-8F95-BB9AEF1C3B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8560248"/>
        <c:axId val="498558280"/>
      </c:scatterChart>
      <c:valAx>
        <c:axId val="498560248"/>
        <c:scaling>
          <c:orientation val="minMax"/>
          <c:max val="2017"/>
          <c:min val="19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558280"/>
        <c:crossesAt val="1"/>
        <c:crossBetween val="midCat"/>
        <c:majorUnit val="10"/>
      </c:valAx>
      <c:valAx>
        <c:axId val="498558280"/>
        <c:scaling>
          <c:orientation val="minMax"/>
          <c:max val="4"/>
          <c:min val="-2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560248"/>
        <c:crossesAt val="1900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-1" y="6400800"/>
            <a:ext cx="12188952" cy="457200"/>
          </a:xfrm>
          <a:prstGeom prst="rect">
            <a:avLst/>
          </a:prstGeom>
          <a:solidFill>
            <a:srgbClr val="9E7E38"/>
          </a:solidFill>
          <a:ln w="9525">
            <a:solidFill>
              <a:srgbClr val="9E7E38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351">
              <a:solidFill>
                <a:schemeClr val="tx1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524000" y="914400"/>
            <a:ext cx="9144000" cy="1371600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0535" y="3886200"/>
            <a:ext cx="2930932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7622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-1" y="6400800"/>
            <a:ext cx="12188952" cy="457200"/>
          </a:xfrm>
          <a:prstGeom prst="rect">
            <a:avLst/>
          </a:prstGeom>
          <a:solidFill>
            <a:srgbClr val="9E7E38"/>
          </a:solidFill>
          <a:ln w="9525">
            <a:solidFill>
              <a:srgbClr val="9E7E38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351">
              <a:solidFill>
                <a:schemeClr val="tx1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524000" y="914400"/>
            <a:ext cx="9144000" cy="1371600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2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895600" y="2743200"/>
            <a:ext cx="6400800" cy="731520"/>
          </a:xfrm>
        </p:spPr>
        <p:txBody>
          <a:bodyPr>
            <a:normAutofit/>
          </a:bodyPr>
          <a:lstStyle>
            <a:lvl1pPr marL="0" indent="0" algn="ctr">
              <a:buNone/>
              <a:defRPr sz="28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>
            <a:off x="3810794" y="2532924"/>
            <a:ext cx="4570413" cy="0"/>
          </a:xfrm>
          <a:prstGeom prst="line">
            <a:avLst/>
          </a:prstGeom>
          <a:noFill/>
          <a:ln w="25400">
            <a:solidFill>
              <a:srgbClr val="9E7E38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 sz="1351"/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0535" y="3886200"/>
            <a:ext cx="2930932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181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143000"/>
            <a:ext cx="11274552" cy="5257800"/>
          </a:xfrm>
        </p:spPr>
        <p:txBody>
          <a:bodyPr/>
          <a:lstStyle>
            <a:lvl1pPr marL="365125" marR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730250" marR="0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2pPr>
            <a:lvl3pPr marL="1096963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36576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800"/>
            </a:lvl4pPr>
            <a:lvl5pPr marL="73152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400"/>
            </a:lvl5pPr>
            <a:lvl6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/>
            </a:lvl6pPr>
            <a:lvl7pPr marL="365760" marR="0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7pPr>
            <a:lvl8pPr marL="731520" marR="0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 sz="2400"/>
            </a:lvl8pPr>
            <a:lvl9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98415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143000"/>
            <a:ext cx="5486400" cy="5257800"/>
          </a:xfrm>
        </p:spPr>
        <p:txBody>
          <a:bodyPr/>
          <a:lstStyle>
            <a:lvl1pPr marL="365125" marR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730250" marR="0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2pPr>
            <a:lvl3pPr marL="1096963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36576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800"/>
            </a:lvl4pPr>
            <a:lvl5pPr marL="73152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400"/>
            </a:lvl5pPr>
            <a:lvl6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/>
            </a:lvl6pPr>
            <a:lvl7pPr marL="365760" marR="0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7pPr>
            <a:lvl8pPr marL="731520" marR="0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 sz="2400"/>
            </a:lvl8pPr>
            <a:lvl9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45352" y="1143000"/>
            <a:ext cx="5486400" cy="5257800"/>
          </a:xfrm>
        </p:spPr>
        <p:txBody>
          <a:bodyPr/>
          <a:lstStyle>
            <a:lvl1pPr marL="365125" marR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730250" marR="0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2pPr>
            <a:lvl3pPr marL="1096963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36576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800"/>
            </a:lvl4pPr>
            <a:lvl5pPr marL="73152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400"/>
            </a:lvl5pPr>
            <a:lvl6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/>
            </a:lvl6pPr>
            <a:lvl7pPr marL="365760" marR="0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7pPr>
            <a:lvl8pPr marL="731520" marR="0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 sz="2400"/>
            </a:lvl8pPr>
            <a:lvl9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70454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8724" y="457200"/>
            <a:ext cx="11274552" cy="5943600"/>
          </a:xfrm>
        </p:spPr>
        <p:txBody>
          <a:bodyPr/>
          <a:lstStyle>
            <a:lvl1pPr marL="365125" marR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730250" marR="0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2pPr>
            <a:lvl3pPr marL="1096963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36576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800"/>
            </a:lvl4pPr>
            <a:lvl5pPr marL="73152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400"/>
            </a:lvl5pPr>
            <a:lvl6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/>
            </a:lvl6pPr>
            <a:lvl7pPr marL="365760" marR="0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7pPr>
            <a:lvl8pPr marL="731520" marR="0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 sz="2400"/>
            </a:lvl8pPr>
            <a:lvl9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13432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831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79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9E7E38"/>
          </a:solidFill>
          <a:ln w="9525">
            <a:solidFill>
              <a:srgbClr val="9E7E38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11274552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5125" marR="0" lvl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  <a:p>
            <a:pPr marL="730250" marR="0" lvl="1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96963" marR="0" lvl="2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365760" marR="0" lvl="3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731520" marR="0" lvl="4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  <a:p>
            <a:pPr marL="1097280" marR="0" lvl="5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Sixth level</a:t>
            </a:r>
          </a:p>
          <a:p>
            <a:pPr marL="365760" marR="0" lvl="6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Seventh level</a:t>
            </a:r>
          </a:p>
          <a:p>
            <a:pPr marL="731520" marR="0" lvl="7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Eighth level</a:t>
            </a:r>
          </a:p>
          <a:p>
            <a:pPr marL="1097280" marR="0" lvl="8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720061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57150" marR="0" indent="0" algn="l" defTabSz="914354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marR="0" indent="-33020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6963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0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+mj-lt"/>
        <a:buAutoNum type="arabicPeriod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+mj-lt"/>
        <a:buAutoNum type="arabicPeriod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+mj-lt"/>
        <a:buAutoNum type="arabicPeriod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" marR="0" indent="-310896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731520" marR="0" indent="-329184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>
          <a:tab pos="804863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yahoo.com/quote/AAPL/options?date=1514505600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AF5636-AFE8-4714-AADA-61BFAD586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Monte Carlo Option Pricing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E06B4F0-B712-4503-B2A1-B264EB506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Professor Philip Howard</a:t>
            </a:r>
          </a:p>
          <a:p>
            <a:r>
              <a:rPr lang="en-US" dirty="0"/>
              <a:t>howardpd@wfu.edu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685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DCB84-F4EA-473B-B850-04007EA76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Gives the holder the right but not obligation to buy stock at predetermined strike price</a:t>
            </a:r>
          </a:p>
          <a:p>
            <a:r>
              <a:rPr lang="en-US" dirty="0"/>
              <a:t>Use options to hedge risk or speculate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8071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Airlines Pull Back on Hedging Fuel Costs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1C0E2-9256-47C3-9758-946EE3B2BE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Fuel is a cost to airlines</a:t>
            </a:r>
          </a:p>
          <a:p>
            <a:r>
              <a:rPr lang="en-US" dirty="0"/>
              <a:t>Rising oil prices results in higher fuel costs</a:t>
            </a:r>
          </a:p>
          <a:p>
            <a:r>
              <a:rPr lang="en-US" dirty="0"/>
              <a:t>Airlines used options to hedge higher oil costs</a:t>
            </a:r>
          </a:p>
          <a:p>
            <a:r>
              <a:rPr lang="en-US" dirty="0"/>
              <a:t>Reappraisal of costly strategy comes after some carriers get burned by low oil prices</a:t>
            </a:r>
          </a:p>
        </p:txBody>
      </p:sp>
      <p:pic>
        <p:nvPicPr>
          <p:cNvPr id="6" name="Content Placeholder 5" descr="C:\Users\Philip\AppData\Local\Temp\BN-NE144_AIRHED_J_20160320142335.jpg">
            <a:extLst>
              <a:ext uri="{FF2B5EF4-FFF2-40B4-BE49-F238E27FC236}">
                <a16:creationId xmlns:a16="http://schemas.microsoft.com/office/drawing/2014/main" id="{3A8399F4-D822-4CBC-96C3-58C27D4F114A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225" y="1944053"/>
            <a:ext cx="5486400" cy="365569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8299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Option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Apple’s current stock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=$174.79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November 30</a:t>
                </a:r>
                <a:r>
                  <a:rPr lang="en-US" baseline="30000" dirty="0"/>
                  <a:t>th</a:t>
                </a:r>
                <a:r>
                  <a:rPr lang="en-US" dirty="0"/>
                  <a:t>, 2018</a:t>
                </a:r>
              </a:p>
              <a:p>
                <a:r>
                  <a:rPr lang="en-US" dirty="0"/>
                  <a:t>Call option with strike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=$172.50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Expires December 29, 2018</a:t>
                </a:r>
              </a:p>
              <a:p>
                <a:pPr lvl="1"/>
                <a:r>
                  <a:rPr lang="en-US" dirty="0"/>
                  <a:t>30 days </a:t>
                </a:r>
                <a:r>
                  <a:rPr lang="en-US"/>
                  <a:t>to expiration</a:t>
                </a:r>
                <a:endParaRPr lang="en-US" dirty="0"/>
              </a:p>
              <a:p>
                <a:r>
                  <a:rPr lang="en-US" dirty="0"/>
                  <a:t>Price of call option in the market is $5.16</a:t>
                </a:r>
              </a:p>
              <a:p>
                <a:pPr lvl="1"/>
                <a:r>
                  <a:rPr lang="en-US" u="sng" dirty="0">
                    <a:hlinkClick r:id="rId3"/>
                  </a:rPr>
                  <a:t>https://finance.yahoo.com/quote/AAPL/options?date=1514505600</a:t>
                </a: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86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1524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Option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Strike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=$172.50</m:t>
                    </m:r>
                  </m:oMath>
                </a14:m>
                <a:r>
                  <a:rPr lang="en-US" dirty="0"/>
                  <a:t> &amp; expires December 29</a:t>
                </a:r>
                <a:r>
                  <a:rPr lang="en-US" baseline="30000" dirty="0"/>
                  <a:t>th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on December 29:</a:t>
                </a:r>
              </a:p>
              <a:p>
                <a:pPr lvl="1"/>
                <a:r>
                  <a:rPr lang="en-US" dirty="0"/>
                  <a:t>Apple’s stock price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=$180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Buy 1 share at strike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=$172.50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Sell 1 share in market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=$180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Payoff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=$180−$172.50=$7.50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If on December 29:</a:t>
                </a:r>
              </a:p>
              <a:p>
                <a:pPr lvl="1"/>
                <a:r>
                  <a:rPr lang="en-US" dirty="0"/>
                  <a:t>Apple’s stock price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=$160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Do not execute option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Payoff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=$0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6" t="-1972" b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3227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Option Payoffs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85EDEC-3A38-4B46-80B7-EED02554F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7867373"/>
              </p:ext>
            </p:extLst>
          </p:nvPr>
        </p:nvGraphicFramePr>
        <p:xfrm>
          <a:off x="457200" y="1143000"/>
          <a:ext cx="11274425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5731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Option Payoffs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Payoff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Price of call option is the present value of expected future payoff</a:t>
                </a:r>
              </a:p>
              <a:p>
                <a:endParaRPr lang="en-US" dirty="0"/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Payoff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44028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Option Pricing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Binomial Option Pricing model</a:t>
                </a:r>
              </a:p>
              <a:p>
                <a:pPr lvl="1"/>
                <a:r>
                  <a:rPr lang="en-US" dirty="0"/>
                  <a:t>Easy to model: stock price only goes up or down in each period</a:t>
                </a:r>
              </a:p>
              <a:p>
                <a:pPr lvl="1"/>
                <a:r>
                  <a:rPr lang="en-US" dirty="0"/>
                  <a:t>Difficult to calculate analytical probabilities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Payoff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Monte Carlo Option Pricing model</a:t>
                </a:r>
              </a:p>
              <a:p>
                <a:pPr lvl="1"/>
                <a:r>
                  <a:rPr lang="en-US" dirty="0"/>
                  <a:t>Easy to code: Code one simulation path. Computer repeats numerous times.</a:t>
                </a:r>
              </a:p>
              <a:p>
                <a:pPr lvl="1"/>
                <a:r>
                  <a:rPr lang="en-US" dirty="0"/>
                  <a:t>Approximate analytical expected payoff with average of simulated payoffs</a:t>
                </a:r>
              </a:p>
              <a:p>
                <a:pPr lvl="1"/>
                <a:endParaRPr lang="en-US" dirty="0"/>
              </a:p>
              <a:p>
                <a:pPr marL="3492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Payoff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Average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Simulated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Payoffs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6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09963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278C-8BEA-478C-AD05-C44BE218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9A5A68-5B30-412A-9EFF-4F712D5256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71500" indent="-514350">
                  <a:buFont typeface="+mj-lt"/>
                  <a:buAutoNum type="arabicPeriod"/>
                </a:pPr>
                <a:r>
                  <a:rPr lang="en-US" dirty="0"/>
                  <a:t>Generate random numbers</a:t>
                </a:r>
              </a:p>
              <a:p>
                <a:pPr marL="936625" lvl="1" indent="-514350"/>
                <a:r>
                  <a:rPr lang="en-US" dirty="0"/>
                  <a:t>Either 0 or 1</a:t>
                </a:r>
              </a:p>
              <a:p>
                <a:pPr marL="936625" lvl="1" indent="-514350"/>
                <a:r>
                  <a:rPr lang="en-US" dirty="0"/>
                  <a:t>1 maps into “up” state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=50.2%</m:t>
                    </m:r>
                  </m:oMath>
                </a14:m>
                <a:endParaRPr lang="en-US" dirty="0"/>
              </a:p>
              <a:p>
                <a:pPr marL="571500" indent="-514350">
                  <a:buFont typeface="+mj-lt"/>
                  <a:buAutoNum type="arabicPeriod"/>
                </a:pPr>
                <a:r>
                  <a:rPr lang="en-US" dirty="0"/>
                  <a:t>Simulate price path of stock</a:t>
                </a:r>
              </a:p>
              <a:p>
                <a:pPr marL="571500" indent="-514350">
                  <a:buFont typeface="+mj-lt"/>
                  <a:buAutoNum type="arabicPeriod"/>
                </a:pPr>
                <a:r>
                  <a:rPr lang="en-US" dirty="0"/>
                  <a:t>Record payoff of call option for every simulation</a:t>
                </a:r>
              </a:p>
              <a:p>
                <a:pPr marL="57150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Payoff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Average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Simulated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Payoffs</m:t>
                        </m:r>
                      </m:e>
                    </m:d>
                  </m:oMath>
                </a14:m>
                <a:endParaRPr lang="en-US" dirty="0"/>
              </a:p>
              <a:p>
                <a:pPr marL="57150" indent="0">
                  <a:buNone/>
                </a:pPr>
                <a:endParaRPr lang="en-US" dirty="0"/>
              </a:p>
              <a:p>
                <a:pPr marL="57150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9A5A68-5B30-412A-9EFF-4F712D5256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9" t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01974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CC198F-5DA0-4C9D-B277-4455ECE918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0"/>
            <a:ext cx="11906250" cy="68580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8188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CC198F-5DA0-4C9D-B277-4455ECE918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383"/>
            <a:ext cx="12192000" cy="6637233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5147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CC198F-5DA0-4C9D-B277-4455ECE918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3478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CC198F-5DA0-4C9D-B277-4455ECE918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6092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DCB84-F4EA-473B-B850-04007EA76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happens to the call option price as the volatility of stock returns increases? Why?</a:t>
            </a:r>
          </a:p>
          <a:p>
            <a:endParaRPr lang="en-US" dirty="0"/>
          </a:p>
          <a:p>
            <a:r>
              <a:rPr lang="en-US" dirty="0"/>
              <a:t>Option price increases as volatility increases</a:t>
            </a:r>
          </a:p>
          <a:p>
            <a:r>
              <a:rPr lang="en-US" dirty="0"/>
              <a:t>Get upside benefit of higher stock prices but no more downside benefit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113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2EB5-D4C4-4030-8A7E-48376873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Finance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F1A814-DCDC-46E2-A02C-017622B54D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301062"/>
              </p:ext>
            </p:extLst>
          </p:nvPr>
        </p:nvGraphicFramePr>
        <p:xfrm>
          <a:off x="457200" y="1143000"/>
          <a:ext cx="11274425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59780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D0BD-A8F8-4AE2-A56E-B800674B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92125" indent="-457200"/>
            <a:r>
              <a:rPr lang="en-US" dirty="0"/>
              <a:t>Black-Scholes Option Pricing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492125" indent="-457200"/>
                <a:r>
                  <a:rPr lang="en-US" dirty="0"/>
                  <a:t>Provides closed-form, analytical solution</a:t>
                </a:r>
              </a:p>
              <a:p>
                <a:pPr marL="492125" indent="-457200"/>
                <a:r>
                  <a:rPr lang="en-US" dirty="0"/>
                  <a:t>Can only price vanilla options</a:t>
                </a:r>
              </a:p>
              <a:p>
                <a:pPr marL="400050" lvl="1" indent="0">
                  <a:buNone/>
                </a:pPr>
                <a:endParaRPr lang="en-US" dirty="0"/>
              </a:p>
              <a:p>
                <a:pPr marL="3492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rad>
                            </m:e>
                          </m:d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rad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rad>
                        </m:e>
                      </m:eqAr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DCB84-F4EA-473B-B850-04007EA76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33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05F1DB-6204-4F59-A58E-C2844AF5F98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: Stock price today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Call price today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: strike price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 Volatility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: Risk-free rate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Time of expiration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05F1DB-6204-4F59-A58E-C2844AF5F9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42793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7315-6634-4429-9FAF-64730438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Exotic Option Pricing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5AF8D-3BF9-4BD4-B5DB-CBB5966854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European Call Option</a:t>
                </a:r>
              </a:p>
              <a:p>
                <a:pPr lvl="1"/>
                <a:r>
                  <a:rPr lang="en-US" dirty="0"/>
                  <a:t>Payoff depends on stock price at date of expiration</a:t>
                </a:r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Payoff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Asian Call Option</a:t>
                </a:r>
              </a:p>
              <a:p>
                <a:pPr lvl="1"/>
                <a:r>
                  <a:rPr lang="en-US" dirty="0"/>
                  <a:t>Payoff depends on average stock price over life of option</a:t>
                </a:r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Payoff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Average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5AF8D-3BF9-4BD4-B5DB-CBB5966854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6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39490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7BED-289C-4F95-A1F3-5167DC1C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Exotic Option 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82CA9-CE13-4A31-9D3E-8860E47C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longer closed form solutions from Black-Scholes</a:t>
            </a:r>
          </a:p>
          <a:p>
            <a:r>
              <a:rPr lang="en-US" dirty="0"/>
              <a:t>Just as easy to price using Monte Carlo simulation</a:t>
            </a:r>
          </a:p>
          <a:p>
            <a:endParaRPr lang="en-US" dirty="0"/>
          </a:p>
          <a:p>
            <a:r>
              <a:rPr lang="en-US" dirty="0"/>
              <a:t>Price of Asian option is less than price of European option. Why?</a:t>
            </a:r>
          </a:p>
          <a:p>
            <a:pPr lvl="1"/>
            <a:r>
              <a:rPr lang="en-US" dirty="0"/>
              <a:t>Average stock price is less volatile than final stock price</a:t>
            </a:r>
          </a:p>
          <a:p>
            <a:pPr lvl="1"/>
            <a:r>
              <a:rPr lang="en-US" dirty="0"/>
              <a:t>Option price increases as volatility increases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246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9658-B1B2-41E9-8BE1-6DEDAF30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8754D9-B9FA-4EFE-B1C2-78C956431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Makes pricing complicated assets easy</a:t>
                </a:r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Payoff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Average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Simulated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Payoffs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57150" indent="0">
                  <a:buNone/>
                </a:pPr>
                <a:endParaRPr lang="en-US" dirty="0"/>
              </a:p>
              <a:p>
                <a:r>
                  <a:rPr lang="en-US" dirty="0"/>
                  <a:t>Can also apply to other areas of finance</a:t>
                </a:r>
              </a:p>
              <a:p>
                <a:pPr lvl="1"/>
                <a:r>
                  <a:rPr lang="en-US" dirty="0"/>
                  <a:t>Bond pricing</a:t>
                </a:r>
              </a:p>
              <a:p>
                <a:pPr lvl="1"/>
                <a:r>
                  <a:rPr lang="en-US" dirty="0"/>
                  <a:t>Credit derivatives</a:t>
                </a:r>
              </a:p>
              <a:p>
                <a:pPr lvl="1"/>
                <a:r>
                  <a:rPr lang="en-US" dirty="0"/>
                  <a:t>Portfolio insurance</a:t>
                </a:r>
              </a:p>
              <a:p>
                <a:pPr lvl="1"/>
                <a:r>
                  <a:rPr lang="en-US" dirty="0"/>
                  <a:t>Capital budgeting</a:t>
                </a:r>
              </a:p>
              <a:p>
                <a:pPr lvl="1"/>
                <a:r>
                  <a:rPr lang="en-US" dirty="0"/>
                  <a:t>Real options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8754D9-B9FA-4EFE-B1C2-78C956431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6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21585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96236-9EE8-4A6A-BD3E-C4A07785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14ABE0-8187-4CDF-A2E6-EB5199520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price of an European put: right to sell at strike price?</a:t>
                </a:r>
              </a:p>
              <a:p>
                <a:endParaRPr lang="en-US" dirty="0"/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Payoff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57150" indent="0">
                  <a:buNone/>
                </a:pPr>
                <a:endParaRPr lang="en-US" dirty="0"/>
              </a:p>
              <a:p>
                <a:r>
                  <a:rPr lang="en-US" dirty="0"/>
                  <a:t>What is the price of a straddle: buy a call and put at the same strike?</a:t>
                </a:r>
              </a:p>
              <a:p>
                <a:pPr marL="5715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Payoff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14ABE0-8187-4CDF-A2E6-EB5199520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6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78535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43F9-1A43-4090-9A0C-2EBED5F4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 of Straddle</a:t>
            </a:r>
          </a:p>
        </p:txBody>
      </p:sp>
      <p:pic>
        <p:nvPicPr>
          <p:cNvPr id="5" name="Content Placeholder 4" descr="Screen Clipping">
            <a:extLst>
              <a:ext uri="{FF2B5EF4-FFF2-40B4-BE49-F238E27FC236}">
                <a16:creationId xmlns:a16="http://schemas.microsoft.com/office/drawing/2014/main" id="{37E895E2-CD4C-43A4-8BAB-3B68B86FD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333" y="1464591"/>
            <a:ext cx="9351335" cy="4609626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23451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WFU Theme">
  <a:themeElements>
    <a:clrScheme name="WFU Colors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9E7E38"/>
      </a:accent1>
      <a:accent2>
        <a:srgbClr val="9E7E38"/>
      </a:accent2>
      <a:accent3>
        <a:srgbClr val="9E7E38"/>
      </a:accent3>
      <a:accent4>
        <a:srgbClr val="9E7E38"/>
      </a:accent4>
      <a:accent5>
        <a:srgbClr val="9E7E38"/>
      </a:accent5>
      <a:accent6>
        <a:srgbClr val="9E7E38"/>
      </a:accent6>
      <a:hlink>
        <a:srgbClr val="002060"/>
      </a:hlink>
      <a:folHlink>
        <a:srgbClr val="002060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FU Theme" id="{D9CE2483-85B6-49A6-BB7D-02FAF9003323}" vid="{9EDC561F-2BB4-41B0-B47B-6F8EB04A9E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WFU Theme</Template>
  <TotalTime>259</TotalTime>
  <Words>605</Words>
  <Application>Microsoft Office PowerPoint</Application>
  <PresentationFormat>Widescreen</PresentationFormat>
  <Paragraphs>117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WFU Theme</vt:lpstr>
      <vt:lpstr>Monte Carlo Option Pricing</vt:lpstr>
      <vt:lpstr>Call Option</vt:lpstr>
      <vt:lpstr>Airlines Pull Back on Hedging Fuel Costs</vt:lpstr>
      <vt:lpstr>Call Option Example</vt:lpstr>
      <vt:lpstr>Call Option Example</vt:lpstr>
      <vt:lpstr>Call Option Payoffs</vt:lpstr>
      <vt:lpstr>Call Option Payoffs</vt:lpstr>
      <vt:lpstr>Call Option Pricing</vt:lpstr>
      <vt:lpstr>Monte Carlo Simulation Review</vt:lpstr>
      <vt:lpstr>PowerPoint Presentation</vt:lpstr>
      <vt:lpstr>PowerPoint Presentation</vt:lpstr>
      <vt:lpstr>PowerPoint Presentation</vt:lpstr>
      <vt:lpstr>PowerPoint Presentation</vt:lpstr>
      <vt:lpstr>Sensitivity Analysis</vt:lpstr>
      <vt:lpstr>History of Finance</vt:lpstr>
      <vt:lpstr>Black-Scholes Option Pricing Model</vt:lpstr>
      <vt:lpstr>Exotic Option Pricing</vt:lpstr>
      <vt:lpstr>Exotic Option Pricing</vt:lpstr>
      <vt:lpstr>Monte Carlo Simulation</vt:lpstr>
      <vt:lpstr>Extra</vt:lpstr>
      <vt:lpstr>Payoff of Straddle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Philip Howard</dc:creator>
  <cp:lastModifiedBy>Philip Howard</cp:lastModifiedBy>
  <cp:revision>53</cp:revision>
  <dcterms:created xsi:type="dcterms:W3CDTF">2017-11-27T05:58:07Z</dcterms:created>
  <dcterms:modified xsi:type="dcterms:W3CDTF">2018-11-29T15:52:22Z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080E836B-BF37-4E77-B320-EAA66CB31F7B</vt:lpwstr>
  </property>
  <property fmtid="{D5CDD505-2E9C-101B-9397-08002B2CF9AE}" pid="3" name="ArticulatePath">
    <vt:lpwstr>Presentation</vt:lpwstr>
  </property>
</Properties>
</file>