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36" autoAdjust="0"/>
  </p:normalViewPr>
  <p:slideViewPr>
    <p:cSldViewPr snapToGrid="0">
      <p:cViewPr varScale="1">
        <p:scale>
          <a:sx n="67" d="100"/>
          <a:sy n="67" d="100"/>
        </p:scale>
        <p:origin x="4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-1" y="6400800"/>
            <a:ext cx="12188952" cy="4572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>
              <a:solidFill>
                <a:schemeClr val="tx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24000" y="914400"/>
            <a:ext cx="9144000" cy="1371600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535" y="3886200"/>
            <a:ext cx="2930932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51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-1" y="6400800"/>
            <a:ext cx="12188952" cy="4572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351">
              <a:solidFill>
                <a:schemeClr val="tx1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24000" y="914400"/>
            <a:ext cx="9144000" cy="1371600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895600" y="2743200"/>
            <a:ext cx="6400800" cy="731520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 dirty="0"/>
              <a:t>Subtitle</a:t>
            </a: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3810794" y="2532924"/>
            <a:ext cx="4570413" cy="0"/>
          </a:xfrm>
          <a:prstGeom prst="line">
            <a:avLst/>
          </a:prstGeom>
          <a:noFill/>
          <a:ln w="25400">
            <a:solidFill>
              <a:srgbClr val="9E7E38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351"/>
          </a:p>
        </p:txBody>
      </p:sp>
      <p:pic>
        <p:nvPicPr>
          <p:cNvPr id="14" name="Picture 10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0535" y="3886200"/>
            <a:ext cx="2930932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116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43000"/>
            <a:ext cx="11274552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2584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143000"/>
            <a:ext cx="5486400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45352" y="1143000"/>
            <a:ext cx="5486400" cy="52578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05277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8724" y="457200"/>
            <a:ext cx="11274552" cy="5943600"/>
          </a:xfrm>
        </p:spPr>
        <p:txBody>
          <a:bodyPr/>
          <a:lstStyle>
            <a:lvl1pPr marL="365125" marR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  <a:lvl2pPr marL="730250" marR="0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2pPr>
            <a:lvl3pPr marL="1096963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36576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800"/>
            </a:lvl4pPr>
            <a:lvl5pPr marL="73152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400"/>
            </a:lvl5pPr>
            <a:lvl6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/>
            </a:lvl6pPr>
            <a:lvl7pPr marL="365760" marR="0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/>
            </a:lvl7pPr>
            <a:lvl8pPr marL="731520" marR="0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 sz="2400"/>
            </a:lvl8pPr>
            <a:lvl9pPr marL="1097280" marR="0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189506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1749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85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11274552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5125" marR="0" lvl="0" indent="-307975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  <a:p>
            <a:pPr marL="730250" marR="0" lvl="1" indent="-33020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96963" marR="0" lvl="2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365760" marR="0" lvl="3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731520" marR="0" lvl="4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  <a:p>
            <a:pPr marL="1097280" marR="0" lvl="5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Sixth level</a:t>
            </a:r>
          </a:p>
          <a:p>
            <a:pPr marL="365760" marR="0" lvl="6" indent="-310896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Seventh level</a:t>
            </a:r>
          </a:p>
          <a:p>
            <a:pPr marL="731520" marR="0" lvl="7" indent="-329184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8048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Eighth level</a:t>
            </a:r>
          </a:p>
          <a:p>
            <a:pPr marL="1097280" marR="0" lvl="8" indent="-365760" algn="l" defTabSz="914354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Ninth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97FEEFE-2E6F-4E99-A161-AB2E1529EF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9E7E38"/>
          </a:solidFill>
          <a:ln w="9525">
            <a:solidFill>
              <a:srgbClr val="9E7E38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1830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57150" marR="0" indent="0" algn="l" defTabSz="914354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marR="0" indent="-33020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6963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+mj-lt"/>
        <a:buAutoNum type="arabicPeriod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" marR="0" indent="-310896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31520" marR="0" indent="-329184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>
          <a:tab pos="804863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marR="0" indent="-365760" algn="l" defTabSz="914354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red.stlouisfed.org/categories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request/eqvXkowzNdAUT2Lkp00q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D562-7089-425F-89C2-5770870D0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Macroeconomic Factor Pricing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FB8AB-4A52-428A-BC8F-4A6B44CF3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Member Names</a:t>
            </a:r>
          </a:p>
        </p:txBody>
      </p:sp>
    </p:spTree>
    <p:extLst>
      <p:ext uri="{BB962C8B-B14F-4D97-AF65-F5344CB8AC3E}">
        <p14:creationId xmlns:p14="http://schemas.microsoft.com/office/powerpoint/2010/main" val="3031045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7D4789-155E-4645-9F01-D8344274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Macroeconomic Factors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5BC9A1-3FFB-4EFB-AFE4-97A3962D7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https://fred.stlouisfed.org/categories</a:t>
            </a:r>
            <a:r>
              <a:rPr lang="en-US" dirty="0"/>
              <a:t>. Here you can download historical economic time-series. Explore the different categories of data. For each team member, identify a variable you want to include in your asset pricing model. The series must be monthly and must cover from January 1997 to December 2016.</a:t>
            </a:r>
          </a:p>
          <a:p>
            <a:r>
              <a:rPr lang="en-US" dirty="0"/>
              <a:t>On your first slide, state each variable you are adding to your model. Tell me why you believe this variable should economically matter.</a:t>
            </a:r>
          </a:p>
          <a:p>
            <a:r>
              <a:rPr lang="en-US" dirty="0"/>
              <a:t>Time allotted: 10 minutes</a:t>
            </a:r>
          </a:p>
        </p:txBody>
      </p:sp>
    </p:spTree>
    <p:extLst>
      <p:ext uri="{BB962C8B-B14F-4D97-AF65-F5344CB8AC3E}">
        <p14:creationId xmlns:p14="http://schemas.microsoft.com/office/powerpoint/2010/main" val="141658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E1A006-BD20-460A-8AA2-2DD195F938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E1A006-BD20-460A-8AA2-2DD195F93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00" t="-27434" b="-43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4C657C-EB64-46DD-8813-1B3EAC3A5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7150" indent="0">
                  <a:buNone/>
                </a:pPr>
                <a:r>
                  <a:rPr lang="en-US" dirty="0"/>
                  <a:t>On your second slide:</a:t>
                </a:r>
              </a:p>
              <a:p>
                <a:r>
                  <a:rPr lang="en-US" dirty="0"/>
                  <a:t>Compare the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’s between the </a:t>
                </a:r>
                <a:r>
                  <a:rPr lang="en-US" dirty="0" err="1"/>
                  <a:t>Fama</a:t>
                </a:r>
                <a:r>
                  <a:rPr lang="en-US" dirty="0"/>
                  <a:t>-French 3 factor model and your model that contains the </a:t>
                </a:r>
                <a:r>
                  <a:rPr lang="en-US" dirty="0" err="1"/>
                  <a:t>Fama</a:t>
                </a:r>
                <a:r>
                  <a:rPr lang="en-US" dirty="0"/>
                  <a:t>-French 3 factors and your additional new macroeconomic factors</a:t>
                </a:r>
              </a:p>
              <a:p>
                <a:r>
                  <a:rPr lang="en-US" dirty="0"/>
                  <a:t>Interpret the comparison</a:t>
                </a:r>
              </a:p>
              <a:p>
                <a:r>
                  <a:rPr lang="en-US" dirty="0"/>
                  <a:t>Time allotted: 10 minutes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4C657C-EB64-46DD-8813-1B3EAC3A5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95" t="-1972" r="-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5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33D7-E803-4C8A-A150-1799D833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3F811-3242-4D7B-B823-D2E7DE1B5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Using a F-test, determine which is the better asset pricing model: the </a:t>
            </a:r>
            <a:r>
              <a:rPr lang="en-US" dirty="0" err="1"/>
              <a:t>Fama</a:t>
            </a:r>
            <a:r>
              <a:rPr lang="en-US" dirty="0"/>
              <a:t>-French 3 factor model your new model that includes the </a:t>
            </a:r>
            <a:r>
              <a:rPr lang="en-US" dirty="0" err="1"/>
              <a:t>Fama</a:t>
            </a:r>
            <a:r>
              <a:rPr lang="en-US" dirty="0"/>
              <a:t>-French 3 factors and your new macroeconomic factors. On your </a:t>
            </a:r>
            <a:r>
              <a:rPr lang="en-US"/>
              <a:t>third slide, state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hypothesis of your test.</a:t>
            </a:r>
          </a:p>
          <a:p>
            <a:pPr lvl="1"/>
            <a:r>
              <a:rPr lang="en-US" dirty="0"/>
              <a:t>The P-value of the test.</a:t>
            </a:r>
          </a:p>
          <a:p>
            <a:pPr lvl="1"/>
            <a:r>
              <a:rPr lang="en-US" dirty="0"/>
              <a:t>The statistical conclusion of your tests.</a:t>
            </a:r>
          </a:p>
          <a:p>
            <a:pPr lvl="1"/>
            <a:r>
              <a:rPr lang="en-US" dirty="0"/>
              <a:t>The economic conclusion of your test.</a:t>
            </a:r>
          </a:p>
          <a:p>
            <a:pPr lvl="1"/>
            <a:endParaRPr lang="en-US" dirty="0"/>
          </a:p>
          <a:p>
            <a:r>
              <a:rPr lang="en-US" dirty="0"/>
              <a:t>Time allotted: 10 minutes</a:t>
            </a:r>
          </a:p>
          <a:p>
            <a:endParaRPr lang="en-US" dirty="0"/>
          </a:p>
          <a:p>
            <a:r>
              <a:rPr lang="en-US" dirty="0"/>
              <a:t>For each group, submit your Excel file and PowerPoint presentation to </a:t>
            </a:r>
            <a:r>
              <a:rPr lang="en-US" dirty="0">
                <a:hlinkClick r:id="rId2"/>
              </a:rPr>
              <a:t>https://www.dropbox.com/request/eqvXkowzNdAUT2Lkp00q</a:t>
            </a:r>
            <a:r>
              <a:rPr lang="en-US" dirty="0"/>
              <a:t>. Remember to record your group members in your Excel file.</a:t>
            </a:r>
          </a:p>
        </p:txBody>
      </p:sp>
    </p:spTree>
    <p:extLst>
      <p:ext uri="{BB962C8B-B14F-4D97-AF65-F5344CB8AC3E}">
        <p14:creationId xmlns:p14="http://schemas.microsoft.com/office/powerpoint/2010/main" val="2118356498"/>
      </p:ext>
    </p:extLst>
  </p:cSld>
  <p:clrMapOvr>
    <a:masterClrMapping/>
  </p:clrMapOvr>
</p:sld>
</file>

<file path=ppt/theme/theme1.xml><?xml version="1.0" encoding="utf-8"?>
<a:theme xmlns:a="http://schemas.openxmlformats.org/drawingml/2006/main" name="WFU Theme">
  <a:themeElements>
    <a:clrScheme name="WFU Colors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9E7E38"/>
      </a:accent1>
      <a:accent2>
        <a:srgbClr val="9E7E38"/>
      </a:accent2>
      <a:accent3>
        <a:srgbClr val="9E7E38"/>
      </a:accent3>
      <a:accent4>
        <a:srgbClr val="9E7E38"/>
      </a:accent4>
      <a:accent5>
        <a:srgbClr val="9E7E38"/>
      </a:accent5>
      <a:accent6>
        <a:srgbClr val="9E7E38"/>
      </a:accent6>
      <a:hlink>
        <a:srgbClr val="002060"/>
      </a:hlink>
      <a:folHlink>
        <a:srgbClr val="002060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FU Theme" id="{AE0C3739-C7B6-4060-9CB1-961ABE386071}" vid="{A8C07375-7995-4E7C-9682-48949A9A0B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WFU Theme</Template>
  <TotalTime>209</TotalTime>
  <Words>249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WFU Theme</vt:lpstr>
      <vt:lpstr>Macroeconomic Factor Pricing Model</vt:lpstr>
      <vt:lpstr>Macroeconomic Factors</vt:lpstr>
      <vt:lpstr>Adjusted R ̅^2</vt:lpstr>
      <vt:lpstr>Model Comparison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Linear Regression</dc:title>
  <dc:creator>Philip Howard</dc:creator>
  <cp:lastModifiedBy>Philip Howard</cp:lastModifiedBy>
  <cp:revision>39</cp:revision>
  <dcterms:created xsi:type="dcterms:W3CDTF">2016-09-17T21:03:40Z</dcterms:created>
  <dcterms:modified xsi:type="dcterms:W3CDTF">2020-10-27T13:10:05Z</dcterms:modified>
</cp:coreProperties>
</file>